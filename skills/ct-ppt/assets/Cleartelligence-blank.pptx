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media/image13.svg" ContentType="image/svg+xml"/>
  <Override PartName="/ppt/media/image16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17" r:id="rId4"/>
    <p:sldMasterId id="2147483728" r:id="rId5"/>
    <p:sldMasterId id="2147483740" r:id="rId6"/>
  </p:sldMasterIdLst>
  <p:notesMasterIdLst>
    <p:notesMasterId r:id="rId54"/>
  </p:notesMasterIdLst>
  <p:sldIdLst/>
  <p:sldSz cx="12192000" cy="6858000"/>
  <p:notesSz cx="6858000" cy="9144000"/>
  <p:embeddedFontLst>
    <p:embeddedFont>
      <p:font typeface="Aptos Light" panose="020B0004020202020204" pitchFamily="34" charset="0"/>
      <p:regular r:id="rId55"/>
      <p:italic r:id="rId56"/>
    </p:embeddedFont>
    <p:embeddedFont>
      <p:font typeface="Aptos SemiBold" panose="020B0004020202020204" pitchFamily="34" charset="0"/>
      <p:regular r:id="rId57"/>
      <p:bold r:id="rId58"/>
      <p:italic r:id="rId59"/>
      <p:boldItalic r:id="rId6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B2219A3-0458-1D43-8BC1-224ED7D4B0FD}">
          <p14:sldIdLst>
            <p14:sldId id="2147469375"/>
            <p14:sldId id="2147469320"/>
            <p14:sldId id="277"/>
            <p14:sldId id="2147469361"/>
            <p14:sldId id="2147469554"/>
            <p14:sldId id="2147469495"/>
            <p14:sldId id="2147469592"/>
            <p14:sldId id="2147469492"/>
            <p14:sldId id="2147469548"/>
          </p14:sldIdLst>
        </p14:section>
        <p14:section name="Forecasting &amp; Scenario Planning Best Practices" id="{98521598-B182-DB44-BF8D-A23FDF41B402}">
          <p14:sldIdLst>
            <p14:sldId id="2147469547"/>
            <p14:sldId id="2147469557"/>
            <p14:sldId id="2147469589"/>
            <p14:sldId id="2147469558"/>
            <p14:sldId id="2147469565"/>
            <p14:sldId id="2147469571"/>
            <p14:sldId id="2147469597"/>
            <p14:sldId id="2147469595"/>
          </p14:sldIdLst>
        </p14:section>
        <p14:section name="Next steps" id="{13E8455A-8F9C-5141-92A6-8984E6784386}">
          <p14:sldIdLst>
            <p14:sldId id="2147469549"/>
            <p14:sldId id="2147469591"/>
            <p14:sldId id="2147469587"/>
            <p14:sldId id="273"/>
          </p14:sldIdLst>
        </p14:section>
        <p14:section name="Graveyard" id="{5A83A4A2-6E7D-F44A-B802-C0906ECCF4B7}">
          <p14:sldIdLst>
            <p14:sldId id="2147469324"/>
            <p14:sldId id="2147469489"/>
            <p14:sldId id="2147469388"/>
            <p14:sldId id="2147469501"/>
            <p14:sldId id="2147469482"/>
            <p14:sldId id="2147469376"/>
            <p14:sldId id="2147469484"/>
            <p14:sldId id="2147469502"/>
            <p14:sldId id="2147469450"/>
            <p14:sldId id="2147469383"/>
            <p14:sldId id="2147469485"/>
            <p14:sldId id="2147469507"/>
            <p14:sldId id="2147469512"/>
            <p14:sldId id="2147469590"/>
            <p14:sldId id="2147469582"/>
            <p14:sldId id="2147469516"/>
            <p14:sldId id="2147469517"/>
            <p14:sldId id="2147469519"/>
            <p14:sldId id="2147469518"/>
            <p14:sldId id="2147469486"/>
            <p14:sldId id="2147469483"/>
            <p14:sldId id="2147469584"/>
            <p14:sldId id="2147469546"/>
            <p14:sldId id="2147469553"/>
            <p14:sldId id="2147469473"/>
            <p14:sldId id="2147469481"/>
          </p14:sldIdLst>
        </p14:section>
      </p14:sectionLst>
    </p:ext>
    <p:ext uri="{EFAFB233-063F-42B5-8137-9DF3F51BA10A}">
      <p15:sldGuideLst xmlns:p15="http://schemas.microsoft.com/office/powerpoint/2012/main">
        <p15:guide id="2" pos="480" userDrawn="1">
          <p15:clr>
            <a:srgbClr val="A4A3A4"/>
          </p15:clr>
        </p15:guide>
        <p15:guide id="3" orient="horz" pos="192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5C6206-9626-59A9-984D-F7FE212082A8}" name="Gareth Ratcliffe" initials="GR" userId="S::gareth.ratcliffe@cleartelligence.com::24324953-57d2-48e4-8d77-946dbb2da409" providerId="AD"/>
  <p188:author id="{5B4F5C0C-BAAE-007F-B637-5A24FA630A5B}" name="Charlie Hall" initials="CH" userId="S::charlie.hall@cleartelligence.com::2f2d34d1-b12a-466d-bae4-855e74b29473" providerId="AD"/>
  <p188:author id="{EAE7A411-C203-11D2-4036-B0448ADD0971}" name="Ben Ipema" initials="" userId="S::ben.ipema@cleartelligence.com::a8f94958-ac30-40f5-97c6-26b3f2778af4" providerId="AD"/>
  <p188:author id="{3175A121-CF42-F07D-8EB3-BBD4A9F574FC}" name="Patrick Simkins" initials="" userId="S::patrick@simkinslightbulb.onmicrosoft.com::87cf663e-b6ca-4ea0-a3ff-049ba90559b7" providerId="AD"/>
  <p188:author id="{BBBAFB30-1E6E-CCC8-56C7-36A964362223}" name="Jason Lotz" initials="" userId="S::Jason.Lotz@cleartelligence.com::3501163d-ffcc-40a5-bd8e-b9049d4be498" providerId="AD"/>
  <p188:author id="{D122DB44-C7EE-0FC9-28CC-4A0BB74905E5}" name="Elizabeth Blackwell" initials="LB" userId="S::Liz.Blackwell@cleartelligence.com::18718058-ec47-42ae-997e-83d5a0779864" providerId="AD"/>
  <p188:author id="{B3ECE64D-857F-48E0-B837-EF499561958E}" name="Kevin Lazorik" initials="KL" userId="S::Kevin.Lazorik@cleartelligence.com::5b1d9675-b568-4c33-9fd8-818b7436a37e" providerId="AD"/>
  <p188:author id="{F4F7ED4E-BE95-0F28-BAF5-D013012AB40E}" name="Karen Newman" initials="KN" userId="S::Karen.Newman@cleartelligence.com::70c46beb-a6ca-48db-bbfa-fce3334a6ae2" providerId="AD"/>
  <p188:author id="{724D5155-6D3E-3056-61C4-EE67CAE00DC3}" name="Alexandra Pintchouk" initials="" userId="S::Alexandra.Pintchouk@cleartelligence.com::fe7a2f0f-6146-4ebc-a4d4-4c59734e3c94" providerId="AD"/>
  <p188:author id="{E845CE5E-A069-D5DB-5374-08C05893F341}" name="Alexandra Pintchouk" initials="AP" userId="S::alexandra.pintchouk@cleartelligence.com::fe7a2f0f-6146-4ebc-a4d4-4c59734e3c94" providerId="AD"/>
  <p188:author id="{09C4BD6E-DEE9-5722-264C-C7145901DE4D}" name="Owen Frivold" initials="OF" userId="S::owen.frivold@cleartelligence.com::bc63b8e0-b3a8-4a00-9350-67d9fe11a47e" providerId="AD"/>
  <p188:author id="{A76071B2-D338-106F-A3D7-1DA397EBD46E}" name="Gareth Ratcliffe" initials="" userId="S::Gareth.Ratcliffe@cleartelligence.com::24324953-57d2-48e4-8d77-946dbb2da409" providerId="AD"/>
  <p188:author id="{1D210DDC-4791-590A-5E7F-E09A939CF3E0}" name="Peter Peralta" initials="PP" userId="S::Pete.Peralta@cleartelligence.com::9bea061e-40d8-4050-9b25-aed6220d984d" providerId="AD"/>
  <p188:author id="{3CEDC4E7-2E3C-60F8-1F99-17A0CEDA27A0}" name="Jay Huie" initials="JH" userId="S::Jay.Huie@cleartelligence.com::9f0c51bd-ca25-47f1-b6c7-7778dd32a9b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EEF0FD"/>
    <a:srgbClr val="4063E0"/>
    <a:srgbClr val="182E51"/>
    <a:srgbClr val="F4F7FA"/>
    <a:srgbClr val="4B6CE3"/>
    <a:srgbClr val="F7F7F7"/>
    <a:srgbClr val="5B5B5B"/>
    <a:srgbClr val="ED8E2F"/>
    <a:srgbClr val="D5D5D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06A216-B50E-2045-A745-FEDF7C170735}" v="5" dt="2026-08-10T19:07:58.070"/>
    <p1510:client id="{41DEFF3E-0584-1B49-8E1C-F37E7F18F1D0}" v="8279" dt="2026-08-10T15:23:33.126"/>
    <p1510:client id="{432DA6FE-4024-7C4A-BD04-167DF150C366}" v="1" dt="2026-08-11T19:07:27.107"/>
    <p1510:client id="{8095F8FE-CEF9-4922-BCF0-7DF087E6A241}" v="165" dt="2026-08-10T15:56:32.017"/>
    <p1510:client id="{8968B5E7-A350-E354-B6FA-7904B0965CD7}" v="7" dt="2026-08-10T15:00:15.4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22"/>
    <p:restoredTop sz="94658"/>
  </p:normalViewPr>
  <p:slideViewPr>
    <p:cSldViewPr snapToGrid="0">
      <p:cViewPr varScale="1">
        <p:scale>
          <a:sx n="120" d="100"/>
          <a:sy n="120" d="100"/>
        </p:scale>
        <p:origin x="-424" y="168"/>
      </p:cViewPr>
      <p:guideLst>
        <p:guide pos="480"/>
        <p:guide orient="horz" pos="19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54" Type="http://schemas.openxmlformats.org/officeDocument/2006/relationships/notesMaster" Target="notesMasters/notesMaster1.xml"/><Relationship Id="rId55" Type="http://schemas.openxmlformats.org/officeDocument/2006/relationships/font" Target="fonts/font1.fntdata"/><Relationship Id="rId56" Type="http://schemas.openxmlformats.org/officeDocument/2006/relationships/font" Target="fonts/font2.fntdata"/><Relationship Id="rId57" Type="http://schemas.openxmlformats.org/officeDocument/2006/relationships/font" Target="fonts/font3.fntdata"/><Relationship Id="rId58" Type="http://schemas.openxmlformats.org/officeDocument/2006/relationships/font" Target="fonts/font4.fntdata"/><Relationship Id="rId59" Type="http://schemas.openxmlformats.org/officeDocument/2006/relationships/font" Target="fonts/font5.fntdata"/><Relationship Id="rId60" Type="http://schemas.openxmlformats.org/officeDocument/2006/relationships/font" Target="fonts/font6.fntdata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microsoft.com/office/2015/10/relationships/revisionInfo" Target="revisionInfo.xml"/><Relationship Id="rId66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E3390D-267D-6246-947E-530D6904208C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E9A66-960F-E94D-ABD0-7C322B4E3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18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eg"/><Relationship Id="rId3" Type="http://schemas.openxmlformats.org/officeDocument/2006/relationships/image" Target="../media/image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hyperlink" Target="https://www.linkedin.com/company/cleartelligence/" TargetMode="External"/><Relationship Id="rId5" Type="http://schemas.openxmlformats.org/officeDocument/2006/relationships/image" Target="../media/image14.png"/><Relationship Id="rId6" Type="http://schemas.openxmlformats.org/officeDocument/2006/relationships/hyperlink" Target="https://www.cleartelligence.com/" TargetMode="Externa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Relationship Id="rId3" Type="http://schemas.openxmlformats.org/officeDocument/2006/relationships/image" Target="../media/image1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hyperlink" Target="https://www.linkedin.com/company/cleartelligence/" TargetMode="External"/><Relationship Id="rId5" Type="http://schemas.openxmlformats.org/officeDocument/2006/relationships/image" Target="../media/image14.png"/><Relationship Id="rId6" Type="http://schemas.openxmlformats.org/officeDocument/2006/relationships/hyperlink" Target="https://www.cleartelligence.com/" TargetMode="Externa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E5B98E0C-4CD9-B4F4-D363-FE568DB02B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18258" y="5220238"/>
            <a:ext cx="3209544" cy="647798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4CCD26CC-D449-B1D8-88F9-EA77AF5A2AFF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211169" y="2203926"/>
            <a:ext cx="9769661" cy="221042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7000" spc="-150">
                <a:solidFill>
                  <a:srgbClr val="3F8EC9"/>
                </a:solidFill>
                <a:latin typeface="+mj-lt"/>
                <a:cs typeface="Arial"/>
              </a:rPr>
              <a:t>When you trust your data, </a:t>
            </a:r>
            <a:r>
              <a:rPr lang="en-US" sz="7000" spc="-150">
                <a:solidFill>
                  <a:srgbClr val="182D50"/>
                </a:solidFill>
                <a:latin typeface="+mj-lt"/>
                <a:cs typeface="Arial"/>
              </a:rPr>
              <a:t>everything</a:t>
            </a:r>
            <a:r>
              <a:rPr lang="en-US" sz="7000" spc="-150">
                <a:solidFill>
                  <a:srgbClr val="3F8EC9"/>
                </a:solidFill>
                <a:latin typeface="+mj-lt"/>
                <a:cs typeface="Arial"/>
              </a:rPr>
              <a:t> is possible.</a:t>
            </a:r>
            <a:endParaRPr lang="en-US" sz="7000" spc="-150">
              <a:solidFill>
                <a:srgbClr val="3F8EC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63159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696ED-0232-A0B5-0BBC-72BDE415D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085" y="1336431"/>
            <a:ext cx="6567853" cy="553915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32801A-86F8-CA7E-6FE4-F677371C9018}"/>
              </a:ext>
            </a:extLst>
          </p:cNvPr>
          <p:cNvCxnSpPr>
            <a:cxnSpLocks/>
          </p:cNvCxnSpPr>
          <p:nvPr userDrawn="1"/>
        </p:nvCxnSpPr>
        <p:spPr>
          <a:xfrm>
            <a:off x="589085" y="2057400"/>
            <a:ext cx="9944100" cy="0"/>
          </a:xfrm>
          <a:prstGeom prst="line">
            <a:avLst/>
          </a:prstGeom>
          <a:ln w="12700">
            <a:solidFill>
              <a:srgbClr val="406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CE44468-9379-18A9-F58C-00C329FC531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89085" y="2444273"/>
            <a:ext cx="6567853" cy="3328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697988-7E24-5346-CA36-7364B60FDE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085" y="6521563"/>
            <a:ext cx="913423" cy="13941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2D40AF9-7FEF-8FFE-C3E3-BE6E6C32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8906" y="6515983"/>
            <a:ext cx="373428" cy="15341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8E4E4D-3141-5F41-A60D-3FF57E68B4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E7AA94C7-5BC1-95B0-5DFA-1B67A8F0AF0C}"/>
              </a:ext>
            </a:extLst>
          </p:cNvPr>
          <p:cNvSpPr txBox="1">
            <a:spLocks/>
          </p:cNvSpPr>
          <p:nvPr userDrawn="1"/>
        </p:nvSpPr>
        <p:spPr>
          <a:xfrm>
            <a:off x="5196816" y="6512814"/>
            <a:ext cx="5282090" cy="15341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i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© 2026 Cleartelligence LLC. Confidential: For internal or authorized use only.</a:t>
            </a:r>
          </a:p>
        </p:txBody>
      </p:sp>
    </p:spTree>
    <p:extLst>
      <p:ext uri="{BB962C8B-B14F-4D97-AF65-F5344CB8AC3E}">
        <p14:creationId xmlns:p14="http://schemas.microsoft.com/office/powerpoint/2010/main" val="918040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3ECB9C-8F66-CACB-9AAF-C604485EE6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65482" y="3715935"/>
            <a:ext cx="9137162" cy="410876"/>
          </a:xfrm>
        </p:spPr>
        <p:txBody>
          <a:bodyPr/>
          <a:lstStyle>
            <a:lvl1pPr>
              <a:buNone/>
              <a:defRPr sz="3000" b="0">
                <a:solidFill>
                  <a:srgbClr val="408EC9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When you trust your data, everything is possible.​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200599E-CFFF-ABC7-1DF3-1B9900B7236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65482" y="1629689"/>
            <a:ext cx="9036802" cy="1855136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600" b="0" spc="-300">
                <a:solidFill>
                  <a:srgbClr val="182D50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Enterprise Data &amp; </a:t>
            </a:r>
          </a:p>
          <a:p>
            <a:pPr lvl="0"/>
            <a:r>
              <a:rPr lang="en-US"/>
              <a:t>AI Services Capabilities​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C74AB97D-4543-EA7B-9D0B-FA7799D1211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173782" y="4875117"/>
            <a:ext cx="8367729" cy="317088"/>
          </a:xfrm>
        </p:spPr>
        <p:txBody>
          <a:bodyPr/>
          <a:lstStyle>
            <a:lvl1pPr algn="r">
              <a:buNone/>
              <a:defRPr sz="13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Prepared for Apple​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8974A075-9B04-8CAD-8BAE-4920BD6B7A3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3783" y="5268131"/>
            <a:ext cx="8367730" cy="410876"/>
          </a:xfrm>
        </p:spPr>
        <p:txBody>
          <a:bodyPr/>
          <a:lstStyle>
            <a:lvl1pPr algn="r">
              <a:buNone/>
              <a:defRPr sz="24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February 2026​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2EAFB431-8C98-B1F7-2045-C902AD9E940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173781" y="5978233"/>
            <a:ext cx="8367730" cy="317088"/>
          </a:xfrm>
        </p:spPr>
        <p:txBody>
          <a:bodyPr/>
          <a:lstStyle>
            <a:lvl1pPr algn="r">
              <a:buNone/>
              <a:defRPr sz="13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Confidential – For Apple Internal Review​</a:t>
            </a:r>
          </a:p>
        </p:txBody>
      </p:sp>
    </p:spTree>
    <p:extLst>
      <p:ext uri="{BB962C8B-B14F-4D97-AF65-F5344CB8AC3E}">
        <p14:creationId xmlns:p14="http://schemas.microsoft.com/office/powerpoint/2010/main" val="1554876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9C232C7-DE04-A94A-79AD-37CA1D21EE0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D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9C7A7"/>
              </a:solidFill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FB6D31BE-E12B-14C4-D18A-D8FA57C0EFA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211169" y="2203926"/>
            <a:ext cx="9769661" cy="221042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7000" spc="-150">
                <a:solidFill>
                  <a:srgbClr val="E9C7A7"/>
                </a:solidFill>
                <a:latin typeface="+mj-lt"/>
                <a:cs typeface="Arial"/>
              </a:rPr>
              <a:t>When you trust your data, </a:t>
            </a:r>
            <a:r>
              <a:rPr lang="en-US" sz="7000" spc="-150">
                <a:solidFill>
                  <a:schemeClr val="bg1"/>
                </a:solidFill>
                <a:latin typeface="+mj-lt"/>
                <a:cs typeface="Arial"/>
              </a:rPr>
              <a:t>everything</a:t>
            </a:r>
            <a:r>
              <a:rPr lang="en-US" sz="7000" spc="-150">
                <a:solidFill>
                  <a:srgbClr val="E9C7A7"/>
                </a:solidFill>
                <a:latin typeface="+mj-lt"/>
                <a:cs typeface="Arial"/>
              </a:rPr>
              <a:t> is possible.</a:t>
            </a:r>
            <a:endParaRPr lang="en-US" sz="7000" spc="-150">
              <a:solidFill>
                <a:srgbClr val="E9C7A7"/>
              </a:solidFill>
              <a:latin typeface="+mj-lt"/>
            </a:endParaRPr>
          </a:p>
        </p:txBody>
      </p:sp>
      <p:pic>
        <p:nvPicPr>
          <p:cNvPr id="27" name="Picture 26" descr="A black and white logo&#10;&#10;AI-generated content may be incorrect.">
            <a:extLst>
              <a:ext uri="{FF2B5EF4-FFF2-40B4-BE49-F238E27FC236}">
                <a16:creationId xmlns:a16="http://schemas.microsoft.com/office/drawing/2014/main" id="{93E0427B-5FF8-3608-2AFA-4B0CDF2669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22774" y="5220238"/>
            <a:ext cx="3205028" cy="64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74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A5329511-EFC2-AB3B-389B-CBB75070ED64}"/>
              </a:ext>
            </a:extLst>
          </p:cNvPr>
          <p:cNvSpPr>
            <a:spLocks noGrp="1"/>
          </p:cNvSpPr>
          <p:nvPr>
            <p:ph type="subTitle" idx="4294967295" hasCustomPrompt="1"/>
          </p:nvPr>
        </p:nvSpPr>
        <p:spPr>
          <a:xfrm>
            <a:off x="5798948" y="1574928"/>
            <a:ext cx="6372045" cy="3708143"/>
          </a:xfrm>
        </p:spPr>
        <p:txBody>
          <a:bodyPr>
            <a:noAutofit/>
          </a:bodyPr>
          <a:lstStyle>
            <a:lvl1pPr>
              <a:buNone/>
              <a:defRPr/>
            </a:lvl1pPr>
          </a:lstStyle>
          <a:p>
            <a:pPr algn="l"/>
            <a:r>
              <a:rPr lang="en-US" sz="7000" spc="-300">
                <a:solidFill>
                  <a:srgbClr val="3F8EC9"/>
                </a:solidFill>
                <a:cs typeface="Arial"/>
              </a:rPr>
              <a:t>When you </a:t>
            </a:r>
            <a:r>
              <a:rPr lang="en-US" sz="7000" spc="-300">
                <a:solidFill>
                  <a:srgbClr val="194376"/>
                </a:solidFill>
                <a:cs typeface="Arial"/>
              </a:rPr>
              <a:t>trust</a:t>
            </a:r>
            <a:r>
              <a:rPr lang="en-US" sz="7000" spc="-300">
                <a:solidFill>
                  <a:srgbClr val="3F8EC9"/>
                </a:solidFill>
                <a:cs typeface="Arial"/>
              </a:rPr>
              <a:t> your data, everything is </a:t>
            </a:r>
            <a:r>
              <a:rPr lang="en-US" sz="7000" spc="-300">
                <a:solidFill>
                  <a:srgbClr val="194376"/>
                </a:solidFill>
                <a:cs typeface="Arial"/>
              </a:rPr>
              <a:t>possible.</a:t>
            </a:r>
            <a:endParaRPr lang="en-US" sz="7000" spc="-300">
              <a:solidFill>
                <a:srgbClr val="194376"/>
              </a:solidFill>
            </a:endParaRP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8C72DF7-5DAB-960C-A646-2F7A43B5AC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5056" y="3061765"/>
            <a:ext cx="3304057" cy="66687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AC95E1-569E-52AE-FB83-3FECC546D6B2}"/>
              </a:ext>
            </a:extLst>
          </p:cNvPr>
          <p:cNvCxnSpPr>
            <a:cxnSpLocks/>
          </p:cNvCxnSpPr>
          <p:nvPr userDrawn="1"/>
        </p:nvCxnSpPr>
        <p:spPr>
          <a:xfrm flipV="1">
            <a:off x="5060739" y="1718442"/>
            <a:ext cx="0" cy="358039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422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494A29-7A29-E929-E045-124DA37E1E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D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>
              <a:solidFill>
                <a:srgbClr val="E9C7A7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72CFFA-1105-5B0E-00EF-A208DA3C23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335" y="2463800"/>
            <a:ext cx="4631265" cy="2579132"/>
          </a:xfrm>
        </p:spPr>
        <p:txBody>
          <a:bodyPr anchor="t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A9B3C-BF88-4E68-7700-DAE6B0225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  <p:pic>
        <p:nvPicPr>
          <p:cNvPr id="7" name="Picture 6" descr="A black and white background with white dots&#10;&#10;AI-generated content may be incorrect.">
            <a:extLst>
              <a:ext uri="{FF2B5EF4-FFF2-40B4-BE49-F238E27FC236}">
                <a16:creationId xmlns:a16="http://schemas.microsoft.com/office/drawing/2014/main" id="{ABF9A262-46CD-6988-8F93-E559086472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9964" y="394893"/>
            <a:ext cx="393281" cy="393281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7494928-3B8A-BB00-9343-15BE6CD9EB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49865F-4CCB-0BEC-C8BA-CA971AD7CE9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4335" y="1980650"/>
            <a:ext cx="3193775" cy="346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buNone/>
              <a:defRPr sz="1600" spc="300">
                <a:solidFill>
                  <a:srgbClr val="F4B137"/>
                </a:solidFill>
              </a:defRPr>
            </a:lvl1pPr>
          </a:lstStyle>
          <a:p>
            <a:pPr lvl="0"/>
            <a:r>
              <a:rPr lang="en-US"/>
              <a:t>LORUM IPSUM</a:t>
            </a:r>
          </a:p>
        </p:txBody>
      </p:sp>
    </p:spTree>
    <p:extLst>
      <p:ext uri="{BB962C8B-B14F-4D97-AF65-F5344CB8AC3E}">
        <p14:creationId xmlns:p14="http://schemas.microsoft.com/office/powerpoint/2010/main" val="1765162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891F61-DE3B-CEBC-C456-94A721A4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  <p:pic>
        <p:nvPicPr>
          <p:cNvPr id="6" name="Picture 5" descr="A black and white image of a graph&#10;&#10;AI-generated content may be incorrect.">
            <a:extLst>
              <a:ext uri="{FF2B5EF4-FFF2-40B4-BE49-F238E27FC236}">
                <a16:creationId xmlns:a16="http://schemas.microsoft.com/office/drawing/2014/main" id="{722A4988-F6ED-8C6F-38BE-D1E266664C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9319" t="122" r="32267" b="29309"/>
          <a:stretch>
            <a:fillRect/>
          </a:stretch>
        </p:blipFill>
        <p:spPr>
          <a:xfrm>
            <a:off x="256480" y="256032"/>
            <a:ext cx="3096320" cy="5966968"/>
          </a:xfrm>
          <a:prstGeom prst="roundRect">
            <a:avLst>
              <a:gd name="adj" fmla="val 3010"/>
            </a:avLst>
          </a:prstGeom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221CA679-91AD-C4CE-7D18-455C8BB48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B3EA3ED-F6D9-A0D3-4955-55A167CBA5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47554" y="402481"/>
            <a:ext cx="378106" cy="378106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54EC1CCD-AB9F-A81F-CE9F-ACE02D3800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1176" y="402481"/>
            <a:ext cx="4477694" cy="2579132"/>
          </a:xfrm>
        </p:spPr>
        <p:txBody>
          <a:bodyPr anchor="t" anchorCtr="0">
            <a:noAutofit/>
          </a:bodyPr>
          <a:lstStyle>
            <a:lvl1pPr>
              <a:defRPr sz="4600">
                <a:solidFill>
                  <a:srgbClr val="182D50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A4A3116-1090-2F48-C126-A4F2739B1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4216" y="591534"/>
            <a:ext cx="2858584" cy="1988516"/>
          </a:xfrm>
        </p:spPr>
        <p:txBody>
          <a:bodyPr/>
          <a:lstStyle>
            <a:lvl1pPr marL="0" indent="0">
              <a:buNone/>
              <a:defRPr sz="3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0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891F61-DE3B-CEBC-C456-94A721A4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2A4988-F6ED-8C6F-38BE-D1E266664C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52" r="58574"/>
          <a:stretch>
            <a:fillRect/>
          </a:stretch>
        </p:blipFill>
        <p:spPr>
          <a:xfrm>
            <a:off x="256480" y="256032"/>
            <a:ext cx="3096320" cy="5966968"/>
          </a:xfrm>
          <a:prstGeom prst="roundRect">
            <a:avLst>
              <a:gd name="adj" fmla="val 3010"/>
            </a:avLst>
          </a:prstGeom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221CA679-91AD-C4CE-7D18-455C8BB48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B3EA3ED-F6D9-A0D3-4955-55A167CBA5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47554" y="402481"/>
            <a:ext cx="378106" cy="378106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54EC1CCD-AB9F-A81F-CE9F-ACE02D3800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1176" y="402481"/>
            <a:ext cx="4477694" cy="2579132"/>
          </a:xfrm>
        </p:spPr>
        <p:txBody>
          <a:bodyPr anchor="t" anchorCtr="0">
            <a:noAutofit/>
          </a:bodyPr>
          <a:lstStyle>
            <a:lvl1pPr>
              <a:defRPr sz="4600">
                <a:solidFill>
                  <a:srgbClr val="182D50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A4A3116-1090-2F48-C126-A4F2739B1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4216" y="591534"/>
            <a:ext cx="2858584" cy="1988516"/>
          </a:xfrm>
        </p:spPr>
        <p:txBody>
          <a:bodyPr/>
          <a:lstStyle>
            <a:lvl1pPr marL="0" indent="0">
              <a:buNone/>
              <a:defRPr sz="3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24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891F61-DE3B-CEBC-C456-94A721A4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2A4988-F6ED-8C6F-38BE-D1E266664C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1260" t="2842" r="4904" b="412"/>
          <a:stretch>
            <a:fillRect/>
          </a:stretch>
        </p:blipFill>
        <p:spPr>
          <a:xfrm>
            <a:off x="8808092" y="256032"/>
            <a:ext cx="3096320" cy="5966968"/>
          </a:xfrm>
          <a:prstGeom prst="roundRect">
            <a:avLst>
              <a:gd name="adj" fmla="val 3010"/>
            </a:avLst>
          </a:prstGeom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221CA679-91AD-C4CE-7D18-455C8BB48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B3EA3ED-F6D9-A0D3-4955-55A167CBA5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47554" y="402481"/>
            <a:ext cx="378106" cy="378106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54EC1CCD-AB9F-A81F-CE9F-ACE02D3800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348" y="402481"/>
            <a:ext cx="4477694" cy="2579132"/>
          </a:xfrm>
        </p:spPr>
        <p:txBody>
          <a:bodyPr anchor="t" anchorCtr="0">
            <a:noAutofit/>
          </a:bodyPr>
          <a:lstStyle>
            <a:lvl1pPr>
              <a:defRPr sz="4600">
                <a:solidFill>
                  <a:srgbClr val="182D50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A4A3116-1090-2F48-C126-A4F2739B1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5828" y="3851569"/>
            <a:ext cx="2858584" cy="1988516"/>
          </a:xfrm>
        </p:spPr>
        <p:txBody>
          <a:bodyPr>
            <a:noAutofit/>
          </a:bodyPr>
          <a:lstStyle>
            <a:lvl1pPr marL="0" indent="0">
              <a:buNone/>
              <a:defRPr sz="3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pic>
        <p:nvPicPr>
          <p:cNvPr id="2" name="Picture 1" descr="A black and white background with white dots&#10;&#10;AI-generated content may be incorrect.">
            <a:extLst>
              <a:ext uri="{FF2B5EF4-FFF2-40B4-BE49-F238E27FC236}">
                <a16:creationId xmlns:a16="http://schemas.microsoft.com/office/drawing/2014/main" id="{C5654277-E8BA-C16E-6141-AD81D8A680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47553" y="400052"/>
            <a:ext cx="380536" cy="38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929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4F879-562D-6A53-7591-F053DF0D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4600">
                <a:solidFill>
                  <a:srgbClr val="182D5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1B75E-1A05-A247-00D1-13B39FDAC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3C5BEBF-1AF1-7B8C-73D6-3C42423808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47554" y="402481"/>
            <a:ext cx="378106" cy="378106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60C3DCE-F6E4-C0C1-B546-3A7E263BD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E75E058-0134-729A-43D5-04D28691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834640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84052-8FF2-36C8-7FD2-A884E0191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164781"/>
            <a:ext cx="8763000" cy="883042"/>
          </a:xfrm>
        </p:spPr>
        <p:txBody>
          <a:bodyPr/>
          <a:lstStyle>
            <a:lvl1pPr>
              <a:defRPr sz="4600">
                <a:solidFill>
                  <a:srgbClr val="182D5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6368A87-E4E9-1F1B-2482-99D055606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38198C0-BFC4-DD8B-2BAC-864962BED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pic>
        <p:nvPicPr>
          <p:cNvPr id="14" name="Picture 1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AFB287F-8BE2-76D0-7BE5-0DB5E9ECA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47554" y="402481"/>
            <a:ext cx="378106" cy="37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028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Ligh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EF89AB-4A3D-57EE-0B97-EA0A1CA222A7}"/>
              </a:ext>
            </a:extLst>
          </p:cNvPr>
          <p:cNvCxnSpPr>
            <a:cxnSpLocks/>
          </p:cNvCxnSpPr>
          <p:nvPr userDrawn="1"/>
        </p:nvCxnSpPr>
        <p:spPr>
          <a:xfrm>
            <a:off x="0" y="6379862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B753D38D-B67F-E8E1-46F1-FF24ABEFFC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9085" y="6521563"/>
            <a:ext cx="913423" cy="13941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E15E105-D646-39E9-4CAB-E53CD059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3625" y="6515983"/>
            <a:ext cx="373428" cy="15341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8E4E4D-3141-5F41-A60D-3FF57E68B4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76A4949-537A-F3C3-02F0-801CF3BDD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27386" y="6512814"/>
            <a:ext cx="2789422" cy="153413"/>
          </a:xfrm>
        </p:spPr>
        <p:txBody>
          <a:bodyPr/>
          <a:lstStyle>
            <a:lvl1pPr algn="l">
              <a:defRPr b="0" i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Executive Summary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1F0870D-F2ED-B77A-D581-D81CF8CA73F5}"/>
              </a:ext>
            </a:extLst>
          </p:cNvPr>
          <p:cNvSpPr txBox="1">
            <a:spLocks/>
          </p:cNvSpPr>
          <p:nvPr userDrawn="1"/>
        </p:nvSpPr>
        <p:spPr>
          <a:xfrm>
            <a:off x="5941535" y="6512814"/>
            <a:ext cx="5282090" cy="15341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i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© 2026 Cleartelligence LLC. Confidential: For internal or authorized use only.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9143AEA-5F7A-9B7E-5CEA-9A18F5833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085" y="365126"/>
            <a:ext cx="11007969" cy="89102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EDDB61-D722-5792-6928-51C1E3FCF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85" y="1625600"/>
            <a:ext cx="11007969" cy="455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01031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E5B98E0C-4CD9-B4F4-D363-FE568DB02B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18258" y="5220238"/>
            <a:ext cx="3209544" cy="647798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4CCD26CC-D449-B1D8-88F9-EA77AF5A2AFF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211169" y="2203926"/>
            <a:ext cx="9769661" cy="221042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7000" spc="-150">
                <a:solidFill>
                  <a:srgbClr val="3F8EC9"/>
                </a:solidFill>
                <a:latin typeface="+mj-lt"/>
                <a:cs typeface="Arial"/>
              </a:rPr>
              <a:t>When you trust your data, </a:t>
            </a:r>
            <a:r>
              <a:rPr lang="en-US" sz="7000" spc="-150">
                <a:solidFill>
                  <a:srgbClr val="182D50"/>
                </a:solidFill>
                <a:latin typeface="+mj-lt"/>
                <a:cs typeface="Arial"/>
              </a:rPr>
              <a:t>everything</a:t>
            </a:r>
            <a:r>
              <a:rPr lang="en-US" sz="7000" spc="-150">
                <a:solidFill>
                  <a:srgbClr val="3F8EC9"/>
                </a:solidFill>
                <a:latin typeface="+mj-lt"/>
                <a:cs typeface="Arial"/>
              </a:rPr>
              <a:t> is possible.</a:t>
            </a:r>
            <a:endParaRPr lang="en-US" sz="7000" spc="-150">
              <a:solidFill>
                <a:srgbClr val="3F8EC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9353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3ECB9C-8F66-CACB-9AAF-C604485EE6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65482" y="3715935"/>
            <a:ext cx="9137162" cy="410876"/>
          </a:xfrm>
        </p:spPr>
        <p:txBody>
          <a:bodyPr/>
          <a:lstStyle>
            <a:lvl1pPr>
              <a:buNone/>
              <a:defRPr sz="3000" b="0">
                <a:solidFill>
                  <a:srgbClr val="408EC9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When you trust your data, everything is possible.​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200599E-CFFF-ABC7-1DF3-1B9900B7236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65482" y="1629689"/>
            <a:ext cx="9036802" cy="1855136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600" b="0" spc="-300">
                <a:solidFill>
                  <a:srgbClr val="182D50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Enterprise Data &amp; </a:t>
            </a:r>
          </a:p>
          <a:p>
            <a:pPr lvl="0"/>
            <a:r>
              <a:rPr lang="en-US"/>
              <a:t>AI Services Capabilities​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C74AB97D-4543-EA7B-9D0B-FA7799D1211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173782" y="4875117"/>
            <a:ext cx="8367729" cy="317088"/>
          </a:xfrm>
        </p:spPr>
        <p:txBody>
          <a:bodyPr/>
          <a:lstStyle>
            <a:lvl1pPr algn="r">
              <a:buNone/>
              <a:defRPr sz="13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Prepared for Apple​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8974A075-9B04-8CAD-8BAE-4920BD6B7A3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3783" y="5268131"/>
            <a:ext cx="8367730" cy="410876"/>
          </a:xfrm>
        </p:spPr>
        <p:txBody>
          <a:bodyPr/>
          <a:lstStyle>
            <a:lvl1pPr algn="r">
              <a:buNone/>
              <a:defRPr sz="24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February 2026​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2EAFB431-8C98-B1F7-2045-C902AD9E940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173781" y="5978233"/>
            <a:ext cx="8367730" cy="317088"/>
          </a:xfrm>
        </p:spPr>
        <p:txBody>
          <a:bodyPr/>
          <a:lstStyle>
            <a:lvl1pPr algn="r">
              <a:buNone/>
              <a:defRPr sz="13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Confidential – For Apple Internal Review​</a:t>
            </a:r>
          </a:p>
        </p:txBody>
      </p:sp>
    </p:spTree>
    <p:extLst>
      <p:ext uri="{BB962C8B-B14F-4D97-AF65-F5344CB8AC3E}">
        <p14:creationId xmlns:p14="http://schemas.microsoft.com/office/powerpoint/2010/main" val="758447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9C232C7-DE04-A94A-79AD-37CA1D21EE0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D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9C7A7"/>
              </a:solidFill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FB6D31BE-E12B-14C4-D18A-D8FA57C0EFA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211169" y="2203926"/>
            <a:ext cx="9769661" cy="221042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7000" spc="-150">
                <a:solidFill>
                  <a:srgbClr val="E9C7A7"/>
                </a:solidFill>
                <a:latin typeface="+mj-lt"/>
                <a:cs typeface="Arial"/>
              </a:rPr>
              <a:t>When you trust your data, </a:t>
            </a:r>
            <a:r>
              <a:rPr lang="en-US" sz="7000" spc="-150">
                <a:solidFill>
                  <a:schemeClr val="bg1"/>
                </a:solidFill>
                <a:latin typeface="+mj-lt"/>
                <a:cs typeface="Arial"/>
              </a:rPr>
              <a:t>everything</a:t>
            </a:r>
            <a:r>
              <a:rPr lang="en-US" sz="7000" spc="-150">
                <a:solidFill>
                  <a:srgbClr val="E9C7A7"/>
                </a:solidFill>
                <a:latin typeface="+mj-lt"/>
                <a:cs typeface="Arial"/>
              </a:rPr>
              <a:t> is possible.</a:t>
            </a:r>
            <a:endParaRPr lang="en-US" sz="7000" spc="-150">
              <a:solidFill>
                <a:srgbClr val="E9C7A7"/>
              </a:solidFill>
              <a:latin typeface="+mj-lt"/>
            </a:endParaRPr>
          </a:p>
        </p:txBody>
      </p:sp>
      <p:pic>
        <p:nvPicPr>
          <p:cNvPr id="27" name="Picture 26" descr="A black and white logo&#10;&#10;AI-generated content may be incorrect.">
            <a:extLst>
              <a:ext uri="{FF2B5EF4-FFF2-40B4-BE49-F238E27FC236}">
                <a16:creationId xmlns:a16="http://schemas.microsoft.com/office/drawing/2014/main" id="{93E0427B-5FF8-3608-2AFA-4B0CDF2669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22774" y="5220238"/>
            <a:ext cx="3205028" cy="64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191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A5329511-EFC2-AB3B-389B-CBB75070ED64}"/>
              </a:ext>
            </a:extLst>
          </p:cNvPr>
          <p:cNvSpPr>
            <a:spLocks noGrp="1"/>
          </p:cNvSpPr>
          <p:nvPr>
            <p:ph type="subTitle" idx="4294967295" hasCustomPrompt="1"/>
          </p:nvPr>
        </p:nvSpPr>
        <p:spPr>
          <a:xfrm>
            <a:off x="5798948" y="1574928"/>
            <a:ext cx="6372045" cy="3708143"/>
          </a:xfrm>
        </p:spPr>
        <p:txBody>
          <a:bodyPr>
            <a:noAutofit/>
          </a:bodyPr>
          <a:lstStyle>
            <a:lvl1pPr>
              <a:buNone/>
              <a:defRPr/>
            </a:lvl1pPr>
          </a:lstStyle>
          <a:p>
            <a:pPr algn="l"/>
            <a:r>
              <a:rPr lang="en-US" sz="7000" spc="-300">
                <a:solidFill>
                  <a:srgbClr val="3F8EC9"/>
                </a:solidFill>
                <a:cs typeface="Arial"/>
              </a:rPr>
              <a:t>When you </a:t>
            </a:r>
            <a:r>
              <a:rPr lang="en-US" sz="7000" spc="-300">
                <a:solidFill>
                  <a:srgbClr val="194376"/>
                </a:solidFill>
                <a:cs typeface="Arial"/>
              </a:rPr>
              <a:t>trust</a:t>
            </a:r>
            <a:r>
              <a:rPr lang="en-US" sz="7000" spc="-300">
                <a:solidFill>
                  <a:srgbClr val="3F8EC9"/>
                </a:solidFill>
                <a:cs typeface="Arial"/>
              </a:rPr>
              <a:t> your data, everything is </a:t>
            </a:r>
            <a:r>
              <a:rPr lang="en-US" sz="7000" spc="-300">
                <a:solidFill>
                  <a:srgbClr val="194376"/>
                </a:solidFill>
                <a:cs typeface="Arial"/>
              </a:rPr>
              <a:t>possible.</a:t>
            </a:r>
            <a:endParaRPr lang="en-US" sz="7000" spc="-300">
              <a:solidFill>
                <a:srgbClr val="194376"/>
              </a:solidFill>
            </a:endParaRP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8C72DF7-5DAB-960C-A646-2F7A43B5AC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5056" y="3061765"/>
            <a:ext cx="3304057" cy="66687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AC95E1-569E-52AE-FB83-3FECC546D6B2}"/>
              </a:ext>
            </a:extLst>
          </p:cNvPr>
          <p:cNvCxnSpPr>
            <a:cxnSpLocks/>
          </p:cNvCxnSpPr>
          <p:nvPr userDrawn="1"/>
        </p:nvCxnSpPr>
        <p:spPr>
          <a:xfrm flipV="1">
            <a:off x="5060739" y="1718442"/>
            <a:ext cx="0" cy="358039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61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solidFill>
          <a:srgbClr val="0621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494A29-7A29-E929-E045-124DA37E1E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0F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>
              <a:solidFill>
                <a:srgbClr val="E9C7A7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72CFFA-1105-5B0E-00EF-A208DA3C23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335" y="2463800"/>
            <a:ext cx="4631265" cy="2579132"/>
          </a:xfrm>
        </p:spPr>
        <p:txBody>
          <a:bodyPr anchor="t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A9B3C-BF88-4E68-7700-DAE6B0225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  <p:pic>
        <p:nvPicPr>
          <p:cNvPr id="7" name="Picture 6" descr="A black and white background with white dots&#10;&#10;AI-generated content may be incorrect.">
            <a:extLst>
              <a:ext uri="{FF2B5EF4-FFF2-40B4-BE49-F238E27FC236}">
                <a16:creationId xmlns:a16="http://schemas.microsoft.com/office/drawing/2014/main" id="{ABF9A262-46CD-6988-8F93-E559086472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9964" y="394893"/>
            <a:ext cx="393281" cy="393281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7494928-3B8A-BB00-9343-15BE6CD9EB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49865F-4CCB-0BEC-C8BA-CA971AD7CE9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4335" y="1980650"/>
            <a:ext cx="3193775" cy="346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buNone/>
              <a:defRPr sz="1600" spc="300">
                <a:solidFill>
                  <a:srgbClr val="F4B137"/>
                </a:solidFill>
              </a:defRPr>
            </a:lvl1pPr>
          </a:lstStyle>
          <a:p>
            <a:pPr lvl="0"/>
            <a:r>
              <a:rPr lang="en-US"/>
              <a:t>LORUM IPSUM</a:t>
            </a:r>
          </a:p>
        </p:txBody>
      </p:sp>
    </p:spTree>
    <p:extLst>
      <p:ext uri="{BB962C8B-B14F-4D97-AF65-F5344CB8AC3E}">
        <p14:creationId xmlns:p14="http://schemas.microsoft.com/office/powerpoint/2010/main" val="41459218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891F61-DE3B-CEBC-C456-94A721A4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  <p:pic>
        <p:nvPicPr>
          <p:cNvPr id="6" name="Picture 5" descr="A black and white image of a graph&#10;&#10;AI-generated content may be incorrect.">
            <a:extLst>
              <a:ext uri="{FF2B5EF4-FFF2-40B4-BE49-F238E27FC236}">
                <a16:creationId xmlns:a16="http://schemas.microsoft.com/office/drawing/2014/main" id="{722A4988-F6ED-8C6F-38BE-D1E266664C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9319" t="122" r="32267" b="29309"/>
          <a:stretch>
            <a:fillRect/>
          </a:stretch>
        </p:blipFill>
        <p:spPr>
          <a:xfrm>
            <a:off x="256480" y="256032"/>
            <a:ext cx="3096320" cy="5966968"/>
          </a:xfrm>
          <a:prstGeom prst="roundRect">
            <a:avLst>
              <a:gd name="adj" fmla="val 3010"/>
            </a:avLst>
          </a:prstGeom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221CA679-91AD-C4CE-7D18-455C8BB48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B3EA3ED-F6D9-A0D3-4955-55A167CBA5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47554" y="402481"/>
            <a:ext cx="378106" cy="378106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54EC1CCD-AB9F-A81F-CE9F-ACE02D3800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1176" y="402481"/>
            <a:ext cx="4477694" cy="2579132"/>
          </a:xfrm>
        </p:spPr>
        <p:txBody>
          <a:bodyPr anchor="t" anchorCtr="0">
            <a:noAutofit/>
          </a:bodyPr>
          <a:lstStyle>
            <a:lvl1pPr>
              <a:defRPr sz="4600">
                <a:solidFill>
                  <a:srgbClr val="182D50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A4A3116-1090-2F48-C126-A4F2739B1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4216" y="591534"/>
            <a:ext cx="2858584" cy="1988516"/>
          </a:xfrm>
        </p:spPr>
        <p:txBody>
          <a:bodyPr/>
          <a:lstStyle>
            <a:lvl1pPr marL="0" indent="0">
              <a:buNone/>
              <a:defRPr sz="3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0025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891F61-DE3B-CEBC-C456-94A721A4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2A4988-F6ED-8C6F-38BE-D1E266664C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52" r="58574"/>
          <a:stretch>
            <a:fillRect/>
          </a:stretch>
        </p:blipFill>
        <p:spPr>
          <a:xfrm>
            <a:off x="256480" y="256032"/>
            <a:ext cx="3096320" cy="5966968"/>
          </a:xfrm>
          <a:prstGeom prst="roundRect">
            <a:avLst>
              <a:gd name="adj" fmla="val 3010"/>
            </a:avLst>
          </a:prstGeom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221CA679-91AD-C4CE-7D18-455C8BB48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B3EA3ED-F6D9-A0D3-4955-55A167CBA5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47554" y="402481"/>
            <a:ext cx="378106" cy="378106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54EC1CCD-AB9F-A81F-CE9F-ACE02D3800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1176" y="402481"/>
            <a:ext cx="4477694" cy="2579132"/>
          </a:xfrm>
        </p:spPr>
        <p:txBody>
          <a:bodyPr anchor="t" anchorCtr="0">
            <a:noAutofit/>
          </a:bodyPr>
          <a:lstStyle>
            <a:lvl1pPr>
              <a:defRPr sz="4600">
                <a:solidFill>
                  <a:srgbClr val="182D50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A4A3116-1090-2F48-C126-A4F2739B1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4216" y="591534"/>
            <a:ext cx="2858584" cy="1988516"/>
          </a:xfrm>
        </p:spPr>
        <p:txBody>
          <a:bodyPr/>
          <a:lstStyle>
            <a:lvl1pPr marL="0" indent="0">
              <a:buNone/>
              <a:defRPr sz="3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024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891F61-DE3B-CEBC-C456-94A721A4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2A4988-F6ED-8C6F-38BE-D1E266664C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8958" t="-26" r="21854" b="26"/>
          <a:stretch>
            <a:fillRect/>
          </a:stretch>
        </p:blipFill>
        <p:spPr>
          <a:xfrm>
            <a:off x="8808092" y="256032"/>
            <a:ext cx="3096320" cy="5966968"/>
          </a:xfrm>
          <a:prstGeom prst="roundRect">
            <a:avLst>
              <a:gd name="adj" fmla="val 3010"/>
            </a:avLst>
          </a:prstGeom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221CA679-91AD-C4CE-7D18-455C8BB48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B3EA3ED-F6D9-A0D3-4955-55A167CBA5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47554" y="402481"/>
            <a:ext cx="378106" cy="378106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54EC1CCD-AB9F-A81F-CE9F-ACE02D3800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348" y="402481"/>
            <a:ext cx="4477694" cy="2579132"/>
          </a:xfrm>
        </p:spPr>
        <p:txBody>
          <a:bodyPr anchor="t" anchorCtr="0">
            <a:noAutofit/>
          </a:bodyPr>
          <a:lstStyle>
            <a:lvl1pPr>
              <a:defRPr sz="4600">
                <a:solidFill>
                  <a:srgbClr val="182D50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A4A3116-1090-2F48-C126-A4F2739B1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5828" y="3851569"/>
            <a:ext cx="2858584" cy="1988516"/>
          </a:xfrm>
        </p:spPr>
        <p:txBody>
          <a:bodyPr>
            <a:noAutofit/>
          </a:bodyPr>
          <a:lstStyle>
            <a:lvl1pPr marL="0" indent="0">
              <a:buNone/>
              <a:defRPr sz="3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pic>
        <p:nvPicPr>
          <p:cNvPr id="2" name="Picture 1" descr="A black and white background with white dots&#10;&#10;AI-generated content may be incorrect.">
            <a:extLst>
              <a:ext uri="{FF2B5EF4-FFF2-40B4-BE49-F238E27FC236}">
                <a16:creationId xmlns:a16="http://schemas.microsoft.com/office/drawing/2014/main" id="{C5654277-E8BA-C16E-6141-AD81D8A680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47553" y="400052"/>
            <a:ext cx="380536" cy="38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7505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4F879-562D-6A53-7591-F053DF0D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4600">
                <a:solidFill>
                  <a:srgbClr val="182D5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1B75E-1A05-A247-00D1-13B39FDAC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60C3DCE-F6E4-C0C1-B546-3A7E263BD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E75E058-0134-729A-43D5-04D28691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921928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84052-8FF2-36C8-7FD2-A884E0191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164781"/>
            <a:ext cx="8763000" cy="883042"/>
          </a:xfrm>
        </p:spPr>
        <p:txBody>
          <a:bodyPr/>
          <a:lstStyle>
            <a:lvl1pPr>
              <a:defRPr sz="4600">
                <a:solidFill>
                  <a:srgbClr val="182D5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6368A87-E4E9-1F1B-2482-99D055606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38198C0-BFC4-DD8B-2BAC-864962BED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pic>
        <p:nvPicPr>
          <p:cNvPr id="14" name="Picture 1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AFB287F-8BE2-76D0-7BE5-0DB5E9ECA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47554" y="402481"/>
            <a:ext cx="378106" cy="37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313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E4EF3A9-5AC1-59AD-AC37-7B280500B8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085" y="1635214"/>
            <a:ext cx="3801889" cy="760377"/>
          </a:xfrm>
          <a:prstGeom prst="rect">
            <a:avLst/>
          </a:prstGeom>
        </p:spPr>
      </p:pic>
      <p:pic>
        <p:nvPicPr>
          <p:cNvPr id="9" name="Picture 8">
            <a:hlinkClick r:id="rId4"/>
            <a:extLst>
              <a:ext uri="{FF2B5EF4-FFF2-40B4-BE49-F238E27FC236}">
                <a16:creationId xmlns:a16="http://schemas.microsoft.com/office/drawing/2014/main" id="{89D226CF-48EE-4553-30C6-71B3B025395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89085" y="4912783"/>
            <a:ext cx="259195" cy="257866"/>
          </a:xfrm>
          <a:prstGeom prst="rect">
            <a:avLst/>
          </a:prstGeom>
        </p:spPr>
      </p:pic>
      <p:sp>
        <p:nvSpPr>
          <p:cNvPr id="10" name="Subtitle 2">
            <a:hlinkClick r:id="rId6"/>
            <a:extLst>
              <a:ext uri="{FF2B5EF4-FFF2-40B4-BE49-F238E27FC236}">
                <a16:creationId xmlns:a16="http://schemas.microsoft.com/office/drawing/2014/main" id="{2636E653-3052-A5A3-2CE7-4428590BD093}"/>
              </a:ext>
            </a:extLst>
          </p:cNvPr>
          <p:cNvSpPr txBox="1">
            <a:spLocks/>
          </p:cNvSpPr>
          <p:nvPr userDrawn="1"/>
        </p:nvSpPr>
        <p:spPr>
          <a:xfrm>
            <a:off x="1071224" y="4765586"/>
            <a:ext cx="2911497" cy="457200"/>
          </a:xfrm>
          <a:prstGeom prst="rect">
            <a:avLst/>
          </a:prstGeom>
        </p:spPr>
        <p:txBody>
          <a:bodyPr vert="horz" lIns="0" tIns="45720" rIns="0" bIns="45720" rtlCol="0" anchor="b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 baseline="0">
                <a:solidFill>
                  <a:schemeClr val="bg2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|    </a:t>
            </a:r>
            <a:r>
              <a:rPr lang="en-US" err="1">
                <a:solidFill>
                  <a:schemeClr val="bg1"/>
                </a:solidFill>
              </a:rPr>
              <a:t>cleartelligence.com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2387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ol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1C7A739-427E-8991-5C29-2A9DAE6268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9086" y="6521563"/>
            <a:ext cx="913421" cy="13941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4C67F-71FE-07A0-D138-29FB4E38E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8906" y="6515983"/>
            <a:ext cx="373428" cy="1534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8E4E4D-3141-5F41-A60D-3FF57E68B4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6CFB5E80-2829-AA86-B5D8-3C764AFD7432}"/>
              </a:ext>
            </a:extLst>
          </p:cNvPr>
          <p:cNvSpPr txBox="1">
            <a:spLocks/>
          </p:cNvSpPr>
          <p:nvPr userDrawn="1"/>
        </p:nvSpPr>
        <p:spPr>
          <a:xfrm>
            <a:off x="5196816" y="6512814"/>
            <a:ext cx="5282090" cy="15341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i="0">
                <a:solidFill>
                  <a:schemeClr val="bg1">
                    <a:alpha val="60461"/>
                  </a:schemeClr>
                </a:solidFill>
                <a:latin typeface="Aptos Light" panose="020B0004020202020204" pitchFamily="34" charset="0"/>
              </a:rPr>
              <a:t>© 2026 Cleartelligence LLC. Confidential: For internal or authorized use only.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BB694DE-6622-7958-1739-86324B2742B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085" y="4580792"/>
            <a:ext cx="4484077" cy="457200"/>
          </a:xfrm>
        </p:spPr>
        <p:txBody>
          <a:bodyPr anchor="b" anchorCtr="0"/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Subhead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DAD4D-040B-AD4B-997B-E2BDC5AD02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9085" y="1995055"/>
            <a:ext cx="7411914" cy="2440664"/>
          </a:xfrm>
        </p:spPr>
        <p:txBody>
          <a:bodyPr anchor="b"/>
          <a:lstStyle>
            <a:lvl1pPr>
              <a:buNone/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19407435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Ligh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EF89AB-4A3D-57EE-0B97-EA0A1CA222A7}"/>
              </a:ext>
            </a:extLst>
          </p:cNvPr>
          <p:cNvCxnSpPr>
            <a:cxnSpLocks/>
          </p:cNvCxnSpPr>
          <p:nvPr userDrawn="1"/>
        </p:nvCxnSpPr>
        <p:spPr>
          <a:xfrm>
            <a:off x="0" y="6379862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B753D38D-B67F-E8E1-46F1-FF24ABEFFC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9085" y="6521563"/>
            <a:ext cx="913423" cy="13941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E15E105-D646-39E9-4CAB-E53CD059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3625" y="6515983"/>
            <a:ext cx="373428" cy="15341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8E4E4D-3141-5F41-A60D-3FF57E68B4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76A4949-537A-F3C3-02F0-801CF3BDD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27386" y="6512814"/>
            <a:ext cx="2789422" cy="153413"/>
          </a:xfrm>
        </p:spPr>
        <p:txBody>
          <a:bodyPr/>
          <a:lstStyle>
            <a:lvl1pPr algn="l">
              <a:defRPr b="0" i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Executive Summary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1F0870D-F2ED-B77A-D581-D81CF8CA73F5}"/>
              </a:ext>
            </a:extLst>
          </p:cNvPr>
          <p:cNvSpPr txBox="1">
            <a:spLocks/>
          </p:cNvSpPr>
          <p:nvPr userDrawn="1"/>
        </p:nvSpPr>
        <p:spPr>
          <a:xfrm>
            <a:off x="5941535" y="6512814"/>
            <a:ext cx="5282090" cy="15341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i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© 2026 Cleartelligence LLC. Confidential: For internal or authorized use only.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9143AEA-5F7A-9B7E-5CEA-9A18F5833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085" y="365126"/>
            <a:ext cx="11007969" cy="89102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EDDB61-D722-5792-6928-51C1E3FCF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85" y="1625600"/>
            <a:ext cx="11007969" cy="455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62394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ol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1C7A739-427E-8991-5C29-2A9DAE6268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9086" y="6521563"/>
            <a:ext cx="913421" cy="13941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4C67F-71FE-07A0-D138-29FB4E38E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8906" y="6515983"/>
            <a:ext cx="373428" cy="1534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8E4E4D-3141-5F41-A60D-3FF57E68B4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6CFB5E80-2829-AA86-B5D8-3C764AFD7432}"/>
              </a:ext>
            </a:extLst>
          </p:cNvPr>
          <p:cNvSpPr txBox="1">
            <a:spLocks/>
          </p:cNvSpPr>
          <p:nvPr userDrawn="1"/>
        </p:nvSpPr>
        <p:spPr>
          <a:xfrm>
            <a:off x="5196816" y="6512814"/>
            <a:ext cx="5282090" cy="15341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i="0">
                <a:solidFill>
                  <a:schemeClr val="bg1">
                    <a:alpha val="60461"/>
                  </a:schemeClr>
                </a:solidFill>
                <a:latin typeface="Aptos Light" panose="020B0004020202020204" pitchFamily="34" charset="0"/>
              </a:rPr>
              <a:t>© 2026 Cleartelligence LLC. Confidential: For internal or authorized use only.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BB694DE-6622-7958-1739-86324B2742B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085" y="4580792"/>
            <a:ext cx="4484077" cy="457200"/>
          </a:xfrm>
        </p:spPr>
        <p:txBody>
          <a:bodyPr anchor="b" anchorCtr="0"/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Subhead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DAD4D-040B-AD4B-997B-E2BDC5AD02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9085" y="1995055"/>
            <a:ext cx="7411914" cy="2440664"/>
          </a:xfrm>
        </p:spPr>
        <p:txBody>
          <a:bodyPr anchor="b"/>
          <a:lstStyle>
            <a:lvl1pPr>
              <a:buNone/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2280099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5EDA-B9C3-6AF9-EF63-C08D665232E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9085" y="2954215"/>
            <a:ext cx="7921869" cy="1481504"/>
          </a:xfrm>
        </p:spPr>
        <p:txBody>
          <a:bodyPr lIns="0" rIns="0" anchor="b"/>
          <a:lstStyle>
            <a:lvl1pPr algn="l">
              <a:lnSpc>
                <a:spcPct val="80000"/>
              </a:lnSpc>
              <a:defRPr sz="5400" kern="4800" spc="-10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Board of Directors 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84A37-4DB4-9760-2B60-8457C4B127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085" y="4580792"/>
            <a:ext cx="4484077" cy="457200"/>
          </a:xfrm>
        </p:spPr>
        <p:txBody>
          <a:bodyPr anchor="b" anchorCtr="0"/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Q2 2026   |   Dallas, TX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E4EF3A9-5AC1-59AD-AC37-7B280500B8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085" y="689732"/>
            <a:ext cx="1834662" cy="36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499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696ED-0232-A0B5-0BBC-72BDE415D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085" y="1336431"/>
            <a:ext cx="6567853" cy="553915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32801A-86F8-CA7E-6FE4-F677371C9018}"/>
              </a:ext>
            </a:extLst>
          </p:cNvPr>
          <p:cNvCxnSpPr>
            <a:cxnSpLocks/>
          </p:cNvCxnSpPr>
          <p:nvPr userDrawn="1"/>
        </p:nvCxnSpPr>
        <p:spPr>
          <a:xfrm>
            <a:off x="589085" y="2057400"/>
            <a:ext cx="99441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CE44468-9379-18A9-F58C-00C329FC531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89085" y="2444273"/>
            <a:ext cx="6567853" cy="3328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697988-7E24-5346-CA36-7364B60FDE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085" y="6521563"/>
            <a:ext cx="913423" cy="13941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2D40AF9-7FEF-8FFE-C3E3-BE6E6C32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8906" y="6515983"/>
            <a:ext cx="373428" cy="15341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8E4E4D-3141-5F41-A60D-3FF57E68B4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E7AA94C7-5BC1-95B0-5DFA-1B67A8F0AF0C}"/>
              </a:ext>
            </a:extLst>
          </p:cNvPr>
          <p:cNvSpPr txBox="1">
            <a:spLocks/>
          </p:cNvSpPr>
          <p:nvPr userDrawn="1"/>
        </p:nvSpPr>
        <p:spPr>
          <a:xfrm>
            <a:off x="5196816" y="6512814"/>
            <a:ext cx="5282090" cy="15341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i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© 2026 Cleartelligence LLC. Confidential: For internal or authorized use only.</a:t>
            </a:r>
          </a:p>
        </p:txBody>
      </p:sp>
    </p:spTree>
    <p:extLst>
      <p:ext uri="{BB962C8B-B14F-4D97-AF65-F5344CB8AC3E}">
        <p14:creationId xmlns:p14="http://schemas.microsoft.com/office/powerpoint/2010/main" val="19860247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0697988-7E24-5346-CA36-7364B60FDE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085" y="6521563"/>
            <a:ext cx="913423" cy="13941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2D40AF9-7FEF-8FFE-C3E3-BE6E6C32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8906" y="6515983"/>
            <a:ext cx="373428" cy="15341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8E4E4D-3141-5F41-A60D-3FF57E68B4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E7AA94C7-5BC1-95B0-5DFA-1B67A8F0AF0C}"/>
              </a:ext>
            </a:extLst>
          </p:cNvPr>
          <p:cNvSpPr txBox="1">
            <a:spLocks/>
          </p:cNvSpPr>
          <p:nvPr userDrawn="1"/>
        </p:nvSpPr>
        <p:spPr>
          <a:xfrm>
            <a:off x="5196816" y="6512814"/>
            <a:ext cx="5282090" cy="15341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i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© 2026 Cleartelligence LLC. Confidential: For internal or authorized use only.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C5752D8-4209-E66B-D867-5CA72814E88A}"/>
              </a:ext>
            </a:extLst>
          </p:cNvPr>
          <p:cNvSpPr txBox="1">
            <a:spLocks/>
          </p:cNvSpPr>
          <p:nvPr userDrawn="1"/>
        </p:nvSpPr>
        <p:spPr>
          <a:xfrm>
            <a:off x="589085" y="2954215"/>
            <a:ext cx="7921869" cy="1481504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kern="4800" spc="-100" baseline="0">
                <a:solidFill>
                  <a:schemeClr val="bg1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Executive Summary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A394A0E-1FF7-7483-650A-C56AAA5540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085" y="4580792"/>
            <a:ext cx="4484077" cy="457200"/>
          </a:xfrm>
        </p:spPr>
        <p:txBody>
          <a:bodyPr anchor="b" anchorCtr="0"/>
          <a:lstStyle>
            <a:lvl1pPr marL="0" indent="0" algn="l">
              <a:buNone/>
              <a:defRPr sz="2400" baseline="0">
                <a:solidFill>
                  <a:schemeClr val="tx1"/>
                </a:solidFill>
                <a:latin typeface="Aptos Light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31840026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igh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EF89AB-4A3D-57EE-0B97-EA0A1CA222A7}"/>
              </a:ext>
            </a:extLst>
          </p:cNvPr>
          <p:cNvCxnSpPr>
            <a:cxnSpLocks/>
          </p:cNvCxnSpPr>
          <p:nvPr userDrawn="1"/>
        </p:nvCxnSpPr>
        <p:spPr>
          <a:xfrm>
            <a:off x="0" y="6379862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B753D38D-B67F-E8E1-46F1-FF24ABEFFC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9085" y="6521563"/>
            <a:ext cx="913423" cy="13941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E15E105-D646-39E9-4CAB-E53CD059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3625" y="6515983"/>
            <a:ext cx="373428" cy="15341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8E4E4D-3141-5F41-A60D-3FF57E68B4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76A4949-537A-F3C3-02F0-801CF3BDD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27386" y="6512814"/>
            <a:ext cx="2789422" cy="153413"/>
          </a:xfrm>
        </p:spPr>
        <p:txBody>
          <a:bodyPr/>
          <a:lstStyle>
            <a:lvl1pPr algn="l">
              <a:defRPr b="0" i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Executive Summary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1F0870D-F2ED-B77A-D581-D81CF8CA73F5}"/>
              </a:ext>
            </a:extLst>
          </p:cNvPr>
          <p:cNvSpPr txBox="1">
            <a:spLocks/>
          </p:cNvSpPr>
          <p:nvPr userDrawn="1"/>
        </p:nvSpPr>
        <p:spPr>
          <a:xfrm>
            <a:off x="5941535" y="6512814"/>
            <a:ext cx="5282090" cy="15341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i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© 2026 Cleartelligence LLC. Confidential: For internal or authorized use only.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9143AEA-5F7A-9B7E-5CEA-9A18F5833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085" y="365126"/>
            <a:ext cx="11007969" cy="89102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EDDB61-D722-5792-6928-51C1E3FCF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85" y="1625600"/>
            <a:ext cx="11007969" cy="455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94235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- Soli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716A41-6C90-29FF-A0AC-C37C0DB7D80C}"/>
              </a:ext>
            </a:extLst>
          </p:cNvPr>
          <p:cNvSpPr/>
          <p:nvPr userDrawn="1"/>
        </p:nvSpPr>
        <p:spPr>
          <a:xfrm>
            <a:off x="0" y="6373092"/>
            <a:ext cx="12192000" cy="4849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A696ED-0232-A0B5-0BBC-72BDE415D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085" y="365126"/>
            <a:ext cx="11007969" cy="89102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F3AA8-F030-6A0D-846E-785913310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85" y="1625600"/>
            <a:ext cx="11007969" cy="455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753D38D-B67F-E8E1-46F1-FF24ABEFFC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89086" y="6520065"/>
            <a:ext cx="913421" cy="13941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7CC754-D13B-B08F-7681-77A4F64C7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3625" y="6515983"/>
            <a:ext cx="373428" cy="1534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8E4E4D-3141-5F41-A60D-3FF57E68B415}" type="slidenum">
              <a:rPr lang="en-US" smtClean="0"/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FC1CF77-7B2B-9E42-E886-2B975424B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27386" y="6512814"/>
            <a:ext cx="2789422" cy="153413"/>
          </a:xfrm>
        </p:spPr>
        <p:txBody>
          <a:bodyPr/>
          <a:lstStyle>
            <a:lvl1pPr algn="l"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Executive Summary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66D41BD7-FB7D-61BE-74EC-58586C59760B}"/>
              </a:ext>
            </a:extLst>
          </p:cNvPr>
          <p:cNvSpPr txBox="1">
            <a:spLocks/>
          </p:cNvSpPr>
          <p:nvPr userDrawn="1"/>
        </p:nvSpPr>
        <p:spPr>
          <a:xfrm>
            <a:off x="5941535" y="6512814"/>
            <a:ext cx="5282090" cy="15341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i="0">
                <a:solidFill>
                  <a:schemeClr val="bg1"/>
                </a:solidFill>
                <a:latin typeface="Aptos Light" panose="020B0004020202020204" pitchFamily="34" charset="0"/>
              </a:rPr>
              <a:t>© 2026 Cleartelligence LLC. Confidential: For internal or authorized use only.</a:t>
            </a:r>
          </a:p>
        </p:txBody>
      </p:sp>
    </p:spTree>
    <p:extLst>
      <p:ext uri="{BB962C8B-B14F-4D97-AF65-F5344CB8AC3E}">
        <p14:creationId xmlns:p14="http://schemas.microsoft.com/office/powerpoint/2010/main" val="40671586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E4EF3A9-5AC1-59AD-AC37-7B280500B8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085" y="1635214"/>
            <a:ext cx="3801889" cy="760377"/>
          </a:xfrm>
          <a:prstGeom prst="rect">
            <a:avLst/>
          </a:prstGeom>
        </p:spPr>
      </p:pic>
      <p:pic>
        <p:nvPicPr>
          <p:cNvPr id="9" name="Picture 8">
            <a:hlinkClick r:id="rId4"/>
            <a:extLst>
              <a:ext uri="{FF2B5EF4-FFF2-40B4-BE49-F238E27FC236}">
                <a16:creationId xmlns:a16="http://schemas.microsoft.com/office/drawing/2014/main" id="{89D226CF-48EE-4553-30C6-71B3B025395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89085" y="4912783"/>
            <a:ext cx="259195" cy="257866"/>
          </a:xfrm>
          <a:prstGeom prst="rect">
            <a:avLst/>
          </a:prstGeom>
        </p:spPr>
      </p:pic>
      <p:sp>
        <p:nvSpPr>
          <p:cNvPr id="10" name="Subtitle 2">
            <a:hlinkClick r:id="rId6"/>
            <a:extLst>
              <a:ext uri="{FF2B5EF4-FFF2-40B4-BE49-F238E27FC236}">
                <a16:creationId xmlns:a16="http://schemas.microsoft.com/office/drawing/2014/main" id="{2636E653-3052-A5A3-2CE7-4428590BD093}"/>
              </a:ext>
            </a:extLst>
          </p:cNvPr>
          <p:cNvSpPr txBox="1">
            <a:spLocks/>
          </p:cNvSpPr>
          <p:nvPr userDrawn="1"/>
        </p:nvSpPr>
        <p:spPr>
          <a:xfrm>
            <a:off x="1071224" y="4765586"/>
            <a:ext cx="2911497" cy="457200"/>
          </a:xfrm>
          <a:prstGeom prst="rect">
            <a:avLst/>
          </a:prstGeom>
        </p:spPr>
        <p:txBody>
          <a:bodyPr vert="horz" lIns="0" tIns="45720" rIns="0" bIns="45720" rtlCol="0" anchor="b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 baseline="0">
                <a:solidFill>
                  <a:schemeClr val="bg2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|    </a:t>
            </a:r>
            <a:r>
              <a:rPr lang="en-US" err="1">
                <a:solidFill>
                  <a:schemeClr val="bg1"/>
                </a:solidFill>
              </a:rPr>
              <a:t>cleartelligence.com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1740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5EDA-B9C3-6AF9-EF63-C08D66523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84A37-4DB4-9760-2B60-8457C4B12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1530E-8F5E-E37C-33B1-225CFC379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FBC6A-D056-D343-9547-FA573446AD02}" type="datetime1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1FBE4-1B89-A79A-B437-BE17C4191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3004A-8AFD-DB5C-1FC5-537E9BDBA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4E4D-3141-5F41-A60D-3FF57E68B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2926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696ED-0232-A0B5-0BBC-72BDE415D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F3AA8-F030-6A0D-846E-785913310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86916-F02F-09CA-C5A7-78FD39B0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D8127-BCFD-9448-827A-F9F05B899F51}" type="datetime1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C1CA7-2FEA-27DB-D1E9-2AD0D4262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04261-2D13-8528-A32C-374A99DD4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4E4D-3141-5F41-A60D-3FF57E68B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3146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DDF3C-0A1C-8A12-21E3-BC56DC924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B838E-BE85-DAE7-9CCC-C39AF21CF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EBBF3-C524-59E8-329D-E8ED42AAC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461D-C3CA-AC4A-BA49-2AF0A2F2B527}" type="datetime1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34E4C-B658-A4EF-0CC2-7CCAF923B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101B-EC41-5F27-E0D2-DED419B11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4E4D-3141-5F41-A60D-3FF57E68B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962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E2577-EB77-1E08-EC03-486A8B8F7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31841-C048-431B-94FC-BDD85B6933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E15DF-68F4-9803-4D9B-3876B3E48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6DBEC-9F3E-D385-C3FD-732E0A9E4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C695-4A29-1145-ADE6-E12958A0AABE}" type="datetime1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D6F37-44D1-516C-A3E8-1FFE966BE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F9FF7-B895-7138-91AE-1BA7E8DB4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4E4D-3141-5F41-A60D-3FF57E68B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992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266BD-9326-9678-6E14-DE2B5D330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E15E6-1559-6203-1463-BBB2C489A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805EF-0AC1-8B9F-6CBC-444D4264E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1C543E-6898-8FE2-2864-964581717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3C19FB-5E14-410D-2F2A-1558117DD1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DC029F-50B5-CAA6-F7E6-F2FD26777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408E0-E6FA-3749-9DBB-9662D9404AA0}" type="datetime1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86AE8D-2EA3-ADD9-A4CE-353FEC4AB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D97833-C303-5CB5-7579-39D71A56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4E4D-3141-5F41-A60D-3FF57E68B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8178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F38D6-A0E7-CE14-5908-A44F1E3F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0CA13F-29DA-E21C-DA42-B02678323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92DA-F339-3545-8767-D2686FA16D94}" type="datetime1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49997C-B972-141B-A41D-D1D536ADA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2D0386-FAFC-461A-A8B0-2265BBB01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4E4D-3141-5F41-A60D-3FF57E68B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778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56769B-EBE6-2A32-72F2-6CB675B32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664AC-8599-8A43-A292-54AD52FC033C}" type="datetime1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AFA1EB-08FE-DB2A-360D-5951C0BBC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30034-CD3D-4B89-2E97-3159312D9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4E4D-3141-5F41-A60D-3FF57E68B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0032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6E160-968E-4618-C48D-E403C9164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E97CA-2AD9-C799-4831-4628210D6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F6757B-EE28-402E-DA2E-C139307E3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7879B-4AD0-7541-2A4D-D611ADFF1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2347D-2C1E-EE48-AC6D-9E0CCB2DDB3D}" type="datetime1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9403F-FB91-0E6F-7770-E38170F9D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53CE3-4192-BBFC-E6FF-6B37FDAA4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4E4D-3141-5F41-A60D-3FF57E68B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01928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02099-D338-3753-6B60-32688754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CDE209-58E0-EEDF-0C2C-A5CE0B8993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F581DF-C91A-14D4-2A87-F576C2449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B204F-1E93-DD12-413A-F7E9294E5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CAD2D-160A-874D-AC0A-F295BD97C3B6}" type="datetime1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D0338-B2DB-198E-6459-9D44BA78C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2A9D9-28F6-324D-6EB5-532F07283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4E4D-3141-5F41-A60D-3FF57E68B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955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523D0-1378-6CA6-4FB8-CEEDD4D63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B0141F-EA2C-8EE6-9D27-71612767B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FFB02-8B2B-94C8-492C-EF5834B54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E7E59-A91C-EA4C-B031-1885491D6282}" type="datetime1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95560-9647-0FAC-371F-D9247773E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9BEC8-229C-2B07-27F0-9D39068FC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4E4D-3141-5F41-A60D-3FF57E68B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05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D4E2BE-8EE0-7149-3B9E-D08B1C6370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A8FC20-3782-C775-D31C-B05FD3D94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40C7E-B409-CBA3-C2E1-97EE33985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8C824-9A60-D34C-9EA7-6C8253B75D44}" type="datetime1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E280E-4708-0C33-3427-D4DEB02A0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65C2B-21BD-64B2-8AA4-9E0B998C4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4E4D-3141-5F41-A60D-3FF57E68B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451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theme" Target="../theme/theme2.xml"/><Relationship Id="rId15" Type="http://schemas.openxmlformats.org/officeDocument/2006/relationships/image" Target="../media/image8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3.xml"/><Relationship Id="rId1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9FFE1A-DDD9-1EF0-4B6B-E094C1C7D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00062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4A344-FCB6-BAB1-3566-C06B98DAA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25625"/>
            <a:ext cx="10972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794E2-994E-8F25-3E66-769ED4E44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2500" y="6356350"/>
            <a:ext cx="53394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© 2026 Cleartelligence. Confidential – For internal or authorized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741F8-8314-E73E-7D1F-66E946343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47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1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39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62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>
          <a:solidFill>
            <a:srgbClr val="182D5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10C1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10C1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10C1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0C1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0C1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pos="960">
          <p15:clr>
            <a:srgbClr val="F26B43"/>
          </p15:clr>
        </p15:guide>
        <p15:guide id="5" pos="1536">
          <p15:clr>
            <a:srgbClr val="F26B43"/>
          </p15:clr>
        </p15:guide>
        <p15:guide id="6" pos="2112">
          <p15:clr>
            <a:srgbClr val="F26B43"/>
          </p15:clr>
        </p15:guide>
        <p15:guide id="7" pos="2688">
          <p15:clr>
            <a:srgbClr val="F26B43"/>
          </p15:clr>
        </p15:guide>
        <p15:guide id="8" pos="3264">
          <p15:clr>
            <a:srgbClr val="F26B43"/>
          </p15:clr>
        </p15:guide>
        <p15:guide id="9" pos="4416">
          <p15:clr>
            <a:srgbClr val="F26B43"/>
          </p15:clr>
        </p15:guide>
        <p15:guide id="10" pos="4992">
          <p15:clr>
            <a:srgbClr val="F26B43"/>
          </p15:clr>
        </p15:guide>
        <p15:guide id="11" pos="5568">
          <p15:clr>
            <a:srgbClr val="F26B43"/>
          </p15:clr>
        </p15:guide>
        <p15:guide id="12" pos="6144">
          <p15:clr>
            <a:srgbClr val="F26B43"/>
          </p15:clr>
        </p15:guide>
        <p15:guide id="13" pos="6720">
          <p15:clr>
            <a:srgbClr val="F26B43"/>
          </p15:clr>
        </p15:guide>
        <p15:guide id="14" pos="729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9FFE1A-DDD9-1EF0-4B6B-E094C1C7D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00062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4A344-FCB6-BAB1-3566-C06B98DAA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25625"/>
            <a:ext cx="10972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794E2-994E-8F25-3E66-769ED4E44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2500" y="6356350"/>
            <a:ext cx="53394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© 2026 Cleartelligence. Confidential – For internal or authorized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741F8-8314-E73E-7D1F-66E946343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47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5F5B5A9-0850-8A64-6099-0B3946CE458A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1347554" y="402481"/>
            <a:ext cx="378106" cy="37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54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59" r:id="rId11"/>
    <p:sldLayoutId id="2147483760" r:id="rId12"/>
    <p:sldLayoutId id="2147483761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>
          <a:solidFill>
            <a:srgbClr val="182D5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10C1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10C1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10C1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0C1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0C1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pos="960">
          <p15:clr>
            <a:srgbClr val="F26B43"/>
          </p15:clr>
        </p15:guide>
        <p15:guide id="5" pos="1536">
          <p15:clr>
            <a:srgbClr val="F26B43"/>
          </p15:clr>
        </p15:guide>
        <p15:guide id="6" pos="2112">
          <p15:clr>
            <a:srgbClr val="F26B43"/>
          </p15:clr>
        </p15:guide>
        <p15:guide id="7" pos="2688">
          <p15:clr>
            <a:srgbClr val="F26B43"/>
          </p15:clr>
        </p15:guide>
        <p15:guide id="8" pos="3264">
          <p15:clr>
            <a:srgbClr val="F26B43"/>
          </p15:clr>
        </p15:guide>
        <p15:guide id="9" pos="4416">
          <p15:clr>
            <a:srgbClr val="F26B43"/>
          </p15:clr>
        </p15:guide>
        <p15:guide id="10" pos="4992">
          <p15:clr>
            <a:srgbClr val="F26B43"/>
          </p15:clr>
        </p15:guide>
        <p15:guide id="11" pos="5568">
          <p15:clr>
            <a:srgbClr val="F26B43"/>
          </p15:clr>
        </p15:guide>
        <p15:guide id="12" pos="6144">
          <p15:clr>
            <a:srgbClr val="F26B43"/>
          </p15:clr>
        </p15:guide>
        <p15:guide id="13" pos="6720">
          <p15:clr>
            <a:srgbClr val="F26B43"/>
          </p15:clr>
        </p15:guide>
        <p15:guide id="14" pos="729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B3A438-740C-4559-DBF2-9809A2CA8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085" y="365125"/>
            <a:ext cx="11007969" cy="132556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8EADB-149D-A09C-2255-D47C8CD8C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9085" y="1825625"/>
            <a:ext cx="11007969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02F51-6B7B-1EB5-1C6A-02893FB469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9085" y="6576645"/>
            <a:ext cx="2743200" cy="14482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E892831B-3CE0-6847-A1D2-3211928A6EEB}" type="datetime1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BCB81-0160-CB64-5EB1-C8F60C0E54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6645"/>
            <a:ext cx="4114800" cy="14482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Executive Summary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FF987-2242-0BFF-BEA9-9173C2EF3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53854" y="6576645"/>
            <a:ext cx="2743200" cy="14482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DD8E4E4D-3141-5F41-A60D-3FF57E68B4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0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  <p:sldLayoutId id="2147483757" r:id="rId17"/>
    <p:sldLayoutId id="2147483758" r:id="rId1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Aptos Light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Cleartelligence">
      <a:dk1>
        <a:srgbClr val="000000"/>
      </a:dk1>
      <a:lt1>
        <a:srgbClr val="FFFFFF"/>
      </a:lt1>
      <a:dk2>
        <a:srgbClr val="4B6CE2"/>
      </a:dk2>
      <a:lt2>
        <a:srgbClr val="A9E5BB"/>
      </a:lt2>
      <a:accent1>
        <a:srgbClr val="000000"/>
      </a:accent1>
      <a:accent2>
        <a:srgbClr val="FFFFFF"/>
      </a:accent2>
      <a:accent3>
        <a:srgbClr val="4B6CE2"/>
      </a:accent3>
      <a:accent4>
        <a:srgbClr val="A9E5BB"/>
      </a:accent4>
      <a:accent5>
        <a:srgbClr val="BD544C"/>
      </a:accent5>
      <a:accent6>
        <a:srgbClr val="000000"/>
      </a:accent6>
      <a:hlink>
        <a:srgbClr val="4B6CE2"/>
      </a:hlink>
      <a:folHlink>
        <a:srgbClr val="0000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39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7C9F8C6-0820-4108-A7D9-CC4E10EF314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be79a5e3-680b-4b8b-94fd-1a77a0810755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5a0a329-83c8-496b-8b1d-233021b3b87f">
      <Terms xmlns="http://schemas.microsoft.com/office/infopath/2007/PartnerControls"/>
    </lcf76f155ced4ddcb4097134ff3c332f>
    <TaxCatchAll xmlns="bc6dc5fe-7d9c-4ed4-b9d9-ece830b481b1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B166FDE089684894E39B606C61E095" ma:contentTypeVersion="16" ma:contentTypeDescription="Create a new document." ma:contentTypeScope="" ma:versionID="c8daf8077d0807a60681b59d603d53d5">
  <xsd:schema xmlns:xsd="http://www.w3.org/2001/XMLSchema" xmlns:xs="http://www.w3.org/2001/XMLSchema" xmlns:p="http://schemas.microsoft.com/office/2006/metadata/properties" xmlns:ns2="65a0a329-83c8-496b-8b1d-233021b3b87f" xmlns:ns3="bc6dc5fe-7d9c-4ed4-b9d9-ece830b481b1" targetNamespace="http://schemas.microsoft.com/office/2006/metadata/properties" ma:root="true" ma:fieldsID="5c2e81bba4379b76fd0a5f3163f60bc4" ns2:_="" ns3:_="">
    <xsd:import namespace="65a0a329-83c8-496b-8b1d-233021b3b87f"/>
    <xsd:import namespace="bc6dc5fe-7d9c-4ed4-b9d9-ece830b481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a0a329-83c8-496b-8b1d-233021b3b8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232ce076-3877-465a-9720-2d0d50912d3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6dc5fe-7d9c-4ed4-b9d9-ece830b481b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b11c267-dccb-4b0c-817c-fa8afcc0e7d2}" ma:internalName="TaxCatchAll" ma:showField="CatchAllData" ma:web="bc6dc5fe-7d9c-4ed4-b9d9-ece830b481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77A1B7-9009-4799-A1CC-5375B09C6D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7BFA986-4ABA-4D1F-B65F-106C01271246}">
  <ds:schemaRefs>
    <ds:schemaRef ds:uri="http://purl.org/dc/dcmitype/"/>
    <ds:schemaRef ds:uri="65a0a329-83c8-496b-8b1d-233021b3b87f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bc6dc5fe-7d9c-4ed4-b9d9-ece830b481b1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BA22440-C351-4AB3-9DAF-D853EDE2A3AD}">
  <ds:schemaRefs>
    <ds:schemaRef ds:uri="65a0a329-83c8-496b-8b1d-233021b3b87f"/>
    <ds:schemaRef ds:uri="bc6dc5fe-7d9c-4ed4-b9d9-ece830b481b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Cleartelligence - 2025</Template>
  <TotalTime>0</TotalTime>
  <Words>6873</Words>
  <Application>Microsoft Macintosh PowerPoint</Application>
  <PresentationFormat>Widescreen</PresentationFormat>
  <Paragraphs>1021</Paragraphs>
  <Slides>47</Slides>
  <Notes>33</Notes>
  <HiddenSlides>26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Calibri</vt:lpstr>
      <vt:lpstr>Aptos</vt:lpstr>
      <vt:lpstr>Courier New</vt:lpstr>
      <vt:lpstr>Aptos Light</vt:lpstr>
      <vt:lpstr>Arial</vt:lpstr>
      <vt:lpstr>Aptos SemiBold</vt:lpstr>
      <vt:lpstr>Aptos Display</vt:lpstr>
      <vt:lpstr>1_Office Theme</vt:lpstr>
      <vt:lpstr>2_Office Theme</vt:lpstr>
      <vt:lpstr>Office Theme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Finance Domain</vt:lpstr>
      <vt:lpstr>PowerPoint Presentation</vt:lpstr>
      <vt:lpstr>We rebuilt controller finance reporting, then kept building on it. </vt:lpstr>
      <vt:lpstr>PowerPoint Presentation</vt:lpstr>
      <vt:lpstr>Goals and Current State</vt:lpstr>
      <vt:lpstr>Goals &amp; Current State Discussion</vt:lpstr>
      <vt:lpstr>Foundational Data Work Is What Makes the Tools Work</vt:lpstr>
      <vt:lpstr>PowerPoint Presentation</vt:lpstr>
      <vt:lpstr>Trend #3: Data as a Product</vt:lpstr>
      <vt:lpstr>Finance Domain Background</vt:lpstr>
      <vt:lpstr>Where Cortex and Lovable Each Fit, By Business Line</vt:lpstr>
      <vt:lpstr>Proven Value in the Finance Domain</vt:lpstr>
      <vt:lpstr>From Today to Tomorrow</vt:lpstr>
      <vt:lpstr>PowerPoint Presentation</vt:lpstr>
      <vt:lpstr>From Today to Tomorrow</vt:lpstr>
      <vt:lpstr>FP&amp;A End-to-End Integration</vt:lpstr>
      <vt:lpstr>FP&amp;A End-to-End Integration with Tools</vt:lpstr>
      <vt:lpstr>FP&amp;A E2E Subscribers Example (Future State)</vt:lpstr>
      <vt:lpstr>FP&amp;A E2E Subscribers Example (Current State)</vt:lpstr>
      <vt:lpstr>How Scenario Planning &amp; Forecasting Typically Work</vt:lpstr>
      <vt:lpstr>Where Your Priorities Sit Today</vt:lpstr>
      <vt:lpstr>Value and Benefits</vt:lpstr>
      <vt:lpstr>Value and Benefits</vt:lpstr>
      <vt:lpstr>Next Steps</vt:lpstr>
      <vt:lpstr>From Barabara: Context</vt:lpstr>
      <vt:lpstr>Narrative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Elizabeth Blackwell</dc:creator>
  <cp:keywords/>
  <dc:description/>
  <cp:lastModifiedBy>Jason Lotz</cp:lastModifiedBy>
  <cp:revision>2</cp:revision>
  <dcterms:created xsi:type="dcterms:W3CDTF">2026-08-03T14:53:07Z</dcterms:created>
  <dcterms:modified xsi:type="dcterms:W3CDTF">2026-08-11T19:07:27Z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0x010100A5B166FDE089684894E39B606C61E095</vt:lpwstr>
  </property>
  <property fmtid="{D5CDD505-2E9C-101B-9397-08002B2CF9AE}" pid="3" name="Order">
    <vt:lpwstr>60900.0000000000</vt:lpwstr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lpwstr/>
  </property>
  <property fmtid="{D5CDD505-2E9C-101B-9397-08002B2CF9AE}" pid="10" name="MediaServiceImageTags">
    <vt:lpwstr/>
  </property>
</Properties>
</file>