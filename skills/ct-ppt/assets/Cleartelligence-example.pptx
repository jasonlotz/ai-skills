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7FFFC831_6B77630A.xml" ContentType="application/vnd.ms-powerpoint.comments+xml"/>
  <Override PartName="/ppt/comments/modernComment_7FFFC84C_F751FBD4.xml" ContentType="application/vnd.ms-powerpoint.comments+xml"/>
  <Override PartName="/ppt/comments/modernComment_7FFFC8C3_FD157084.xml" ContentType="application/vnd.ms-powerpoint.comments+xml"/>
  <Override PartName="/ppt/media/image13.svg" ContentType="image/svg+xml"/>
  <Override PartName="/ppt/media/image16.svg" ContentType="image/svg+xml"/>
  <Override PartName="/ppt/media/image3.svg" ContentType="image/svg+xml"/>
  <Override PartName="/ppt/media/image33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9.svg" ContentType="image/svg+xml"/>
  <Override PartName="/ppt/media/image4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17" r:id="rId4"/>
    <p:sldMasterId id="2147483728" r:id="rId5"/>
    <p:sldMasterId id="2147483740" r:id="rId6"/>
  </p:sldMasterIdLst>
  <p:notesMasterIdLst>
    <p:notesMasterId r:id="rId54"/>
  </p:notesMasterIdLst>
  <p:sldIdLst>
    <p:sldId id="2147469375" r:id="rId7"/>
    <p:sldId id="2147469320" r:id="rId8"/>
    <p:sldId id="277" r:id="rId9"/>
    <p:sldId id="2147469324" r:id="rId28"/>
    <p:sldId id="2147469361" r:id="rId10"/>
    <p:sldId id="2147469548" r:id="rId15"/>
    <p:sldId id="2147469388" r:id="rId30"/>
    <p:sldId id="2147469507" r:id="rId39"/>
    <p:sldId id="2147469512" r:id="rId40"/>
    <p:sldId id="2147469516" r:id="rId43"/>
    <p:sldId id="2147469483" r:id="rId48"/>
    <p:sldId id="2147469584" r:id="rId49"/>
    <p:sldId id="2147469553" r:id="rId51"/>
    <p:sldId id="273" r:id="rId27"/>
  </p:sldIdLst>
  <p:sldSz cx="12192000" cy="6858000"/>
  <p:notesSz cx="6858000" cy="9144000"/>
  <p:embeddedFontLst>
    <p:embeddedFont>
      <p:font typeface="Aptos Light" panose="020B0004020202020204" pitchFamily="34" charset="0"/>
      <p:regular r:id="rId55"/>
      <p:italic r:id="rId56"/>
    </p:embeddedFont>
    <p:embeddedFont>
      <p:font typeface="Aptos SemiBold" panose="020B0004020202020204" pitchFamily="34" charset="0"/>
      <p:regular r:id="rId57"/>
      <p:bold r:id="rId58"/>
      <p:italic r:id="rId59"/>
      <p:boldItalic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B2219A3-0458-1D43-8BC1-224ED7D4B0FD}">
          <p14:sldIdLst>
            <p14:sldId id="2147469375"/>
            <p14:sldId id="2147469320"/>
            <p14:sldId id="277"/>
            <p14:sldId id="2147469361"/>
            <p14:sldId id="2147469554"/>
            <p14:sldId id="2147469495"/>
            <p14:sldId id="2147469592"/>
            <p14:sldId id="2147469492"/>
            <p14:sldId id="2147469548"/>
          </p14:sldIdLst>
        </p14:section>
        <p14:section name="Forecasting &amp; Scenario Planning Best Practices" id="{98521598-B182-DB44-BF8D-A23FDF41B402}">
          <p14:sldIdLst>
            <p14:sldId id="2147469547"/>
            <p14:sldId id="2147469557"/>
            <p14:sldId id="2147469589"/>
            <p14:sldId id="2147469558"/>
            <p14:sldId id="2147469565"/>
            <p14:sldId id="2147469571"/>
            <p14:sldId id="2147469597"/>
            <p14:sldId id="2147469595"/>
          </p14:sldIdLst>
        </p14:section>
        <p14:section name="Next steps" id="{13E8455A-8F9C-5141-92A6-8984E6784386}">
          <p14:sldIdLst>
            <p14:sldId id="2147469549"/>
            <p14:sldId id="2147469591"/>
            <p14:sldId id="2147469587"/>
            <p14:sldId id="273"/>
          </p14:sldIdLst>
        </p14:section>
        <p14:section name="Graveyard" id="{5A83A4A2-6E7D-F44A-B802-C0906ECCF4B7}">
          <p14:sldIdLst>
            <p14:sldId id="2147469324"/>
            <p14:sldId id="2147469489"/>
            <p14:sldId id="2147469388"/>
            <p14:sldId id="2147469501"/>
            <p14:sldId id="2147469482"/>
            <p14:sldId id="2147469376"/>
            <p14:sldId id="2147469484"/>
            <p14:sldId id="2147469502"/>
            <p14:sldId id="2147469450"/>
            <p14:sldId id="2147469383"/>
            <p14:sldId id="2147469485"/>
            <p14:sldId id="2147469507"/>
            <p14:sldId id="2147469512"/>
            <p14:sldId id="2147469590"/>
            <p14:sldId id="2147469582"/>
            <p14:sldId id="2147469516"/>
            <p14:sldId id="2147469517"/>
            <p14:sldId id="2147469519"/>
            <p14:sldId id="2147469518"/>
            <p14:sldId id="2147469486"/>
            <p14:sldId id="2147469483"/>
            <p14:sldId id="2147469584"/>
            <p14:sldId id="2147469546"/>
            <p14:sldId id="2147469553"/>
            <p14:sldId id="2147469473"/>
            <p14:sldId id="2147469481"/>
          </p14:sldIdLst>
        </p14:section>
      </p14:sectionLst>
    </p:ext>
    <p:ext uri="{EFAFB233-063F-42B5-8137-9DF3F51BA10A}">
      <p15:sldGuideLst xmlns:p15="http://schemas.microsoft.com/office/powerpoint/2012/main">
        <p15:guide id="2" pos="480" userDrawn="1">
          <p15:clr>
            <a:srgbClr val="A4A3A4"/>
          </p15:clr>
        </p15:guide>
        <p15:guide id="3" orient="horz" pos="192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5C6206-9626-59A9-984D-F7FE212082A8}" name="Gareth Ratcliffe" initials="GR" userId="S::gareth.ratcliffe@cleartelligence.com::24324953-57d2-48e4-8d77-946dbb2da409" providerId="AD"/>
  <p188:author id="{5B4F5C0C-BAAE-007F-B637-5A24FA630A5B}" name="Charlie Hall" initials="CH" userId="S::charlie.hall@cleartelligence.com::2f2d34d1-b12a-466d-bae4-855e74b29473" providerId="AD"/>
  <p188:author id="{EAE7A411-C203-11D2-4036-B0448ADD0971}" name="Ben Ipema" initials="" userId="S::ben.ipema@cleartelligence.com::a8f94958-ac30-40f5-97c6-26b3f2778af4" providerId="AD"/>
  <p188:author id="{3175A121-CF42-F07D-8EB3-BBD4A9F574FC}" name="Patrick Simkins" initials="" userId="S::patrick@simkinslightbulb.onmicrosoft.com::87cf663e-b6ca-4ea0-a3ff-049ba90559b7" providerId="AD"/>
  <p188:author id="{BBBAFB30-1E6E-CCC8-56C7-36A964362223}" name="Jason Lotz" initials="" userId="S::Jason.Lotz@cleartelligence.com::3501163d-ffcc-40a5-bd8e-b9049d4be498" providerId="AD"/>
  <p188:author id="{D122DB44-C7EE-0FC9-28CC-4A0BB74905E5}" name="Elizabeth Blackwell" initials="LB" userId="S::Liz.Blackwell@cleartelligence.com::18718058-ec47-42ae-997e-83d5a0779864" providerId="AD"/>
  <p188:author id="{B3ECE64D-857F-48E0-B837-EF499561958E}" name="Kevin Lazorik" initials="KL" userId="S::Kevin.Lazorik@cleartelligence.com::5b1d9675-b568-4c33-9fd8-818b7436a37e" providerId="AD"/>
  <p188:author id="{F4F7ED4E-BE95-0F28-BAF5-D013012AB40E}" name="Karen Newman" initials="KN" userId="S::Karen.Newman@cleartelligence.com::70c46beb-a6ca-48db-bbfa-fce3334a6ae2" providerId="AD"/>
  <p188:author id="{724D5155-6D3E-3056-61C4-EE67CAE00DC3}" name="Alexandra Pintchouk" initials="" userId="S::Alexandra.Pintchouk@cleartelligence.com::fe7a2f0f-6146-4ebc-a4d4-4c59734e3c94" providerId="AD"/>
  <p188:author id="{E845CE5E-A069-D5DB-5374-08C05893F341}" name="Alexandra Pintchouk" initials="AP" userId="S::alexandra.pintchouk@cleartelligence.com::fe7a2f0f-6146-4ebc-a4d4-4c59734e3c94" providerId="AD"/>
  <p188:author id="{09C4BD6E-DEE9-5722-264C-C7145901DE4D}" name="Owen Frivold" initials="OF" userId="S::owen.frivold@cleartelligence.com::bc63b8e0-b3a8-4a00-9350-67d9fe11a47e" providerId="AD"/>
  <p188:author id="{A76071B2-D338-106F-A3D7-1DA397EBD46E}" name="Gareth Ratcliffe" initials="" userId="S::Gareth.Ratcliffe@cleartelligence.com::24324953-57d2-48e4-8d77-946dbb2da409" providerId="AD"/>
  <p188:author id="{1D210DDC-4791-590A-5E7F-E09A939CF3E0}" name="Peter Peralta" initials="PP" userId="S::Pete.Peralta@cleartelligence.com::9bea061e-40d8-4050-9b25-aed6220d984d" providerId="AD"/>
  <p188:author id="{3CEDC4E7-2E3C-60F8-1F99-17A0CEDA27A0}" name="Jay Huie" initials="JH" userId="S::Jay.Huie@cleartelligence.com::9f0c51bd-ca25-47f1-b6c7-7778dd32a9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EEF0FD"/>
    <a:srgbClr val="4063E0"/>
    <a:srgbClr val="182E51"/>
    <a:srgbClr val="F4F7FA"/>
    <a:srgbClr val="4B6CE3"/>
    <a:srgbClr val="F7F7F7"/>
    <a:srgbClr val="5B5B5B"/>
    <a:srgbClr val="ED8E2F"/>
    <a:srgbClr val="D5D5D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06A216-B50E-2045-A745-FEDF7C170735}" v="5" dt="2026-08-10T19:07:58.070"/>
    <p1510:client id="{41DEFF3E-0584-1B49-8E1C-F37E7F18F1D0}" v="8279" dt="2026-08-10T15:23:33.126"/>
    <p1510:client id="{432DA6FE-4024-7C4A-BD04-167DF150C366}" v="1" dt="2026-08-11T19:07:27.107"/>
    <p1510:client id="{8095F8FE-CEF9-4922-BCF0-7DF087E6A241}" v="165" dt="2026-08-10T15:56:32.017"/>
    <p1510:client id="{8968B5E7-A350-E354-B6FA-7904B0965CD7}" v="7" dt="2026-08-10T15:00:15.4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2"/>
    <p:restoredTop sz="94658"/>
  </p:normalViewPr>
  <p:slideViewPr>
    <p:cSldViewPr snapToGrid="0">
      <p:cViewPr varScale="1">
        <p:scale>
          <a:sx n="120" d="100"/>
          <a:sy n="120" d="100"/>
        </p:scale>
        <p:origin x="-424" y="168"/>
      </p:cViewPr>
      <p:guideLst>
        <p:guide pos="480"/>
        <p:guide orient="horz" pos="19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5" Type="http://schemas.openxmlformats.org/officeDocument/2006/relationships/slide" Target="slides/slide9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30" Type="http://schemas.openxmlformats.org/officeDocument/2006/relationships/slide" Target="slides/slide24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1" Type="http://schemas.openxmlformats.org/officeDocument/2006/relationships/slide" Target="slides/slide45.xml"/><Relationship Id="rId54" Type="http://schemas.openxmlformats.org/officeDocument/2006/relationships/notesMaster" Target="notesMasters/notesMaster1.xml"/><Relationship Id="rId55" Type="http://schemas.openxmlformats.org/officeDocument/2006/relationships/font" Target="fonts/font1.fntdata"/><Relationship Id="rId56" Type="http://schemas.openxmlformats.org/officeDocument/2006/relationships/font" Target="fonts/font2.fntdata"/><Relationship Id="rId57" Type="http://schemas.openxmlformats.org/officeDocument/2006/relationships/font" Target="fonts/font3.fntdata"/><Relationship Id="rId58" Type="http://schemas.openxmlformats.org/officeDocument/2006/relationships/font" Target="fonts/font4.fntdata"/><Relationship Id="rId59" Type="http://schemas.openxmlformats.org/officeDocument/2006/relationships/font" Target="fonts/font5.fntdata"/><Relationship Id="rId60" Type="http://schemas.openxmlformats.org/officeDocument/2006/relationships/font" Target="fonts/font6.fntdata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microsoft.com/office/2015/10/relationships/revisionInfo" Target="revisionInfo.xml"/><Relationship Id="rId66" Type="http://schemas.microsoft.com/office/2018/10/relationships/authors" Target="authors.xml"/></Relationships>
</file>

<file path=ppt/comments/modernComment_7FFFC8C3_FD1570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05ECD51-9A12-49E0-BFCC-F3EDB785F819}" authorId="{D122DB44-C7EE-0FC9-28CC-4A0BB74905E5}" created="2026-08-06T15:10:32.952" startDate="2026-08-06T15:10:32.953" dueDate="2026-08-06T15:10:32.953" assignedTo="{A76071B2-D338-106F-A3D7-1DA397EBD46E}" title="@Gareth Ratcliffe can we add some details on Verizon in terms of the value realized?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46040708" sldId="2147469507"/>
      <ac:spMk id="305" creationId="{00000000-0000-0000-0000-000000000000}"/>
    </ac:deMkLst>
    <p188:txBody>
      <a:bodyPr/>
      <a:lstStyle/>
      <a:p>
        <a:r>
          <a:rPr lang="en-US"/>
          <a:t>[@Gareth Ratcliffe]  can we add some details on Verizon in terms of the value realized?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8-06T15:10:32.952" id="{43F475DC-044B-4739-880C-FE3495844DAA}">
              <p228:atrbtn authorId="{D122DB44-C7EE-0FC9-28CC-4A0BB74905E5}"/>
              <p228:anchr>
                <p228:comment id="{605ECD51-9A12-49E0-BFCC-F3EDB785F819}"/>
              </p228:anchr>
              <p228:add/>
            </p228:event>
            <p228:event time="2026-08-06T15:10:32.952" id="{93639C51-25D2-4F55-8873-129F86670596}">
              <p228:atrbtn authorId="{D122DB44-C7EE-0FC9-28CC-4A0BB74905E5}"/>
              <p228:anchr>
                <p228:comment id="{605ECD51-9A12-49E0-BFCC-F3EDB785F819}"/>
              </p228:anchr>
              <p228:asgn authorId="{A76071B2-D338-106F-A3D7-1DA397EBD46E}"/>
            </p228:event>
            <p228:event time="2026-08-06T15:10:32.952" id="{A9FFABD8-FF27-4FE1-B384-EF448DF149C3}">
              <p228:atrbtn authorId="{D122DB44-C7EE-0FC9-28CC-4A0BB74905E5}"/>
              <p228:anchr>
                <p228:comment id="{605ECD51-9A12-49E0-BFCC-F3EDB785F819}"/>
              </p228:anchr>
              <p228:title val="@Gareth Ratcliffe can we add some details on Verizon in terms of the value realized?"/>
            </p228:event>
            <p228:event time="2026-08-06T15:10:32.952" id="{988F2A49-A5BF-4B36-850C-3FDEA4B89946}">
              <p228:atrbtn authorId="{D122DB44-C7EE-0FC9-28CC-4A0BB74905E5}"/>
              <p228:anchr>
                <p228:comment id="{605ECD51-9A12-49E0-BFCC-F3EDB785F819}"/>
              </p228:anchr>
              <p228:date stDt="2026-08-06T15:10:32.953" endDt="2026-08-06T15:10:32.953"/>
            </p228:event>
          </p228:history>
        </p228:taskDetails>
      </p:ext>
    </p188:extLst>
  </p188:cm>
</p188:cmLst>
</file>

<file path=ppt/comments/modernComment_7FFFC84C_F751FBD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893EB0-564F-DA4D-91EB-D3BBBBF39C68}" authorId="{1D210DDC-4791-590A-5E7F-E09A939CF3E0}" created="2026-08-04T17:11:31.02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49345236" sldId="2147469388"/>
      <ac:spMk id="25" creationId="{A438092C-E233-5E42-EA70-0C42B9319709}"/>
    </ac:deMkLst>
    <p188:replyLst>
      <p188:reply id="{C1729B9B-0E84-4151-8584-3908762E8116}" authorId="{8C5C6206-9626-59A9-984D-F7FE212082A8}" created="2026-08-04T17:13:51.544">
        <p188:txBody>
          <a:bodyPr/>
          <a:lstStyle/>
          <a:p>
            <a:r>
              <a:rPr lang="en-US"/>
              <a:t>Yes, planning on adding an additional slide fpr in flight and planned AI initiatives utilize this</a:t>
            </a:r>
          </a:p>
        </p188:txBody>
      </p188:reply>
      <p188:reply id="{CA7A91D0-DBCB-ED47-9F2E-0485629C69F5}" authorId="{1D210DDC-4791-590A-5E7F-E09A939CF3E0}" created="2026-08-04T17:22:35.226">
        <p188:txBody>
          <a:bodyPr/>
          <a:lstStyle/>
          <a:p>
            <a:r>
              <a:rPr lang="en-US"/>
              <a:t>Great.  And the emphasis for the discussion in general is forecasting and scenario planning.  Maybe some content that shows what we did, tools we used, and results.  All high level.</a:t>
            </a:r>
          </a:p>
        </p188:txBody>
      </p188:reply>
    </p188:replyLst>
    <p188:txBody>
      <a:bodyPr/>
      <a:lstStyle/>
      <a:p>
        <a:r>
          <a:rPr lang="en-US"/>
          <a:t>[@Gareth Ratcliffe] We should include another phase: AI Enablement:  Innovation, Solution deployment, change management.  Shows that we are keeping this client relevant in emerging tech.  Thoughts?</a:t>
        </a:r>
      </a:p>
    </p188:txBody>
  </p188:cm>
</p188:cmLst>
</file>

<file path=ppt/comments/modernComment_7FFFC831_6B77630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69D7A01-F24D-6947-AD54-BF0E8AA183A6}" authorId="{1D210DDC-4791-590A-5E7F-E09A939CF3E0}" status="resolved" created="2026-08-05T17:22:29.423" startDate="2026-08-05T17:22:29.424" dueDate="2026-08-05T17:22:29.424" assignedTo="{F4F7ED4E-BE95-0F28-BAF5-D013012AB40E}" complete="100000" title="@Karen Newman. We should segment these, you already have them in their columns: Data Platforms, BI Tools, LLMs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02986250" sldId="2147469361"/>
      <ac:spMk id="9" creationId="{AC6D9331-65FF-D83B-68C2-C956A4A4848B}"/>
    </ac:deMkLst>
    <p188:txBody>
      <a:bodyPr/>
      <a:lstStyle/>
      <a:p>
        <a:r>
          <a:rPr lang="en-US"/>
          <a:t>[@Karen Newman].  We should segment these, you already have them in their columns:  Data Platforms, BI Tools, LLMs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8-05T17:22:29.423" id="{76139C40-0FA0-3C44-B4B4-0B5CA158CAD5}">
              <p228:atrbtn authorId="{1D210DDC-4791-590A-5E7F-E09A939CF3E0}"/>
              <p228:anchr>
                <p228:comment id="{669D7A01-F24D-6947-AD54-BF0E8AA183A6}"/>
              </p228:anchr>
              <p228:add/>
            </p228:event>
            <p228:event time="2026-08-05T17:22:29.423" id="{8698C5D0-DC81-0B48-A27A-99FC4D2716FF}">
              <p228:atrbtn authorId="{1D210DDC-4791-590A-5E7F-E09A939CF3E0}"/>
              <p228:anchr>
                <p228:comment id="{669D7A01-F24D-6947-AD54-BF0E8AA183A6}"/>
              </p228:anchr>
              <p228:asgn authorId="{F4F7ED4E-BE95-0F28-BAF5-D013012AB40E}"/>
            </p228:event>
            <p228:event time="2026-08-05T17:22:29.423" id="{099AC177-A218-474C-A137-FB0EB3470DEF}">
              <p228:atrbtn authorId="{1D210DDC-4791-590A-5E7F-E09A939CF3E0}"/>
              <p228:anchr>
                <p228:comment id="{669D7A01-F24D-6947-AD54-BF0E8AA183A6}"/>
              </p228:anchr>
              <p228:title val="@Karen Newman. We should segment these, you already have them in their columns: Data Platforms, BI Tools, LLMs"/>
            </p228:event>
            <p228:event time="2026-08-05T17:22:29.423" id="{6228F479-CC3F-4D42-828E-172366FF0E1D}">
              <p228:atrbtn authorId="{1D210DDC-4791-590A-5E7F-E09A939CF3E0}"/>
              <p228:anchr>
                <p228:comment id="{669D7A01-F24D-6947-AD54-BF0E8AA183A6}"/>
              </p228:anchr>
              <p228:date stDt="2026-08-05T17:22:29.424" endDt="2026-08-05T17:22:29.424"/>
            </p228:event>
            <p228:event time="2026-08-05T21:57:38.825" id="{8257409D-21A7-8147-853A-799B587D5EF1}">
              <p228:atrbtn authorId="{F4F7ED4E-BE95-0F28-BAF5-D013012AB40E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  <p188:cm id="{11EBF7BC-7CF6-3849-A2BB-410E32DB202D}" authorId="{1D210DDC-4791-590A-5E7F-E09A939CF3E0}" status="resolved" created="2026-08-05T17:23:56.683" startDate="2026-08-05T17:23:56.683" dueDate="2026-08-05T17:23:56.683" assignedTo="{F4F7ED4E-BE95-0F28-BAF5-D013012AB40E}" complete="100000" title="@Karen Newman should we reword this to 'Finance domain engagements?' Or something like that. Some of these are obviously not Finance companies, but all are engagement under CFO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02986250" sldId="2147469361"/>
      <ac:spMk id="42" creationId="{050BA2A1-4D80-E264-9E49-87795316B887}"/>
    </ac:deMkLst>
    <p188:txBody>
      <a:bodyPr/>
      <a:lstStyle/>
      <a:p>
        <a:r>
          <a:rPr lang="en-US"/>
          <a:t>[@Karen Newman] should we reword this to 'Finance domain engagements?' Or something like that. Some of these are obviously not Finance companies, but all are engagement under CFO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8-05T17:23:56.683" id="{24701F87-E8D3-7B41-BCC5-0437166277A8}">
              <p228:atrbtn authorId="{1D210DDC-4791-590A-5E7F-E09A939CF3E0}"/>
              <p228:anchr>
                <p228:comment id="{11EBF7BC-7CF6-3849-A2BB-410E32DB202D}"/>
              </p228:anchr>
              <p228:add/>
            </p228:event>
            <p228:event time="2026-08-05T17:23:56.683" id="{0007EED1-EC5E-7245-9C6E-35CDF83FF1CB}">
              <p228:atrbtn authorId="{1D210DDC-4791-590A-5E7F-E09A939CF3E0}"/>
              <p228:anchr>
                <p228:comment id="{11EBF7BC-7CF6-3849-A2BB-410E32DB202D}"/>
              </p228:anchr>
              <p228:asgn authorId="{F4F7ED4E-BE95-0F28-BAF5-D013012AB40E}"/>
            </p228:event>
            <p228:event time="2026-08-05T17:23:56.683" id="{10BE9A64-1F9C-AA44-B5EE-72AA73196D0A}">
              <p228:atrbtn authorId="{1D210DDC-4791-590A-5E7F-E09A939CF3E0}"/>
              <p228:anchr>
                <p228:comment id="{11EBF7BC-7CF6-3849-A2BB-410E32DB202D}"/>
              </p228:anchr>
              <p228:title val="@Karen Newman should we reword this to 'Finance domain engagements?' Or something like that. Some of these are obviously not Finance companies, but all are engagement under CFO"/>
            </p228:event>
            <p228:event time="2026-08-05T17:23:56.683" id="{4BCD93CC-B9DA-1C4A-93F5-1F400D97B937}">
              <p228:atrbtn authorId="{1D210DDC-4791-590A-5E7F-E09A939CF3E0}"/>
              <p228:anchr>
                <p228:comment id="{11EBF7BC-7CF6-3849-A2BB-410E32DB202D}"/>
              </p228:anchr>
              <p228:date stDt="2026-08-05T17:23:56.683" endDt="2026-08-05T17:23:56.683"/>
            </p228:event>
            <p228:event time="2026-08-05T21:55:16.362" id="{9F508F26-F537-C842-B4B3-01C690E269D9}">
              <p228:atrbtn authorId="{F4F7ED4E-BE95-0F28-BAF5-D013012AB40E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  <p188:cm id="{0012007F-4FA2-C240-A9A5-BA1E69A3EFEF}" authorId="{F4F7ED4E-BE95-0F28-BAF5-D013012AB40E}" created="2026-08-10T14:32:30.634" startDate="2026-08-10T14:32:30.634" dueDate="2026-08-10T14:32:30.634" assignedTo="{1D210DDC-4791-590A-5E7F-E09A939CF3E0}" title="@Peter Peralta This is outdated. Do we want to change/remove?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02986250" sldId="2147469361"/>
      <ac:spMk id="12" creationId="{2AB8D4D9-D921-BEF2-BC3B-EB777EABE2B1}"/>
    </ac:deMkLst>
    <p188:replyLst>
      <p188:reply id="{F84223B6-96A1-8F49-B09F-E619A61A3806}" authorId="{1D210DDC-4791-590A-5E7F-E09A939CF3E0}" created="2026-08-10T14:55:58.957">
        <p188:txBody>
          <a:bodyPr/>
          <a:lstStyle/>
          <a:p>
            <a:r>
              <a:rPr lang="en-US"/>
              <a:t>ok for this session.</a:t>
            </a:r>
          </a:p>
        </p188:txBody>
      </p188:reply>
    </p188:replyLst>
    <p188:txBody>
      <a:bodyPr/>
      <a:lstStyle/>
      <a:p>
        <a:r>
          <a:rPr lang="en-US"/>
          <a:t>[@Peter Peralta] This is outdated. Do we want to change/remove?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8-10T14:32:30.634" id="{1302266F-F59B-0344-AA9F-942013D94733}">
              <p228:atrbtn authorId="{F4F7ED4E-BE95-0F28-BAF5-D013012AB40E}"/>
              <p228:anchr>
                <p228:comment id="{0012007F-4FA2-C240-A9A5-BA1E69A3EFEF}"/>
              </p228:anchr>
              <p228:add/>
            </p228:event>
            <p228:event time="2026-08-10T14:32:30.634" id="{286B3B24-D606-AB4C-ADDB-1165DB723731}">
              <p228:atrbtn authorId="{F4F7ED4E-BE95-0F28-BAF5-D013012AB40E}"/>
              <p228:anchr>
                <p228:comment id="{0012007F-4FA2-C240-A9A5-BA1E69A3EFEF}"/>
              </p228:anchr>
              <p228:asgn authorId="{1D210DDC-4791-590A-5E7F-E09A939CF3E0}"/>
            </p228:event>
            <p228:event time="2026-08-10T14:32:30.634" id="{9B5B7BBF-894B-9048-A308-2B525A4CD317}">
              <p228:atrbtn authorId="{F4F7ED4E-BE95-0F28-BAF5-D013012AB40E}"/>
              <p228:anchr>
                <p228:comment id="{0012007F-4FA2-C240-A9A5-BA1E69A3EFEF}"/>
              </p228:anchr>
              <p228:title val="@Peter Peralta This is outdated. Do we want to change/remove?"/>
            </p228:event>
            <p228:event time="2026-08-10T14:32:30.634" id="{E9E5E780-8920-B44B-8F19-DFA0CB19DCAD}">
              <p228:atrbtn authorId="{F4F7ED4E-BE95-0F28-BAF5-D013012AB40E}"/>
              <p228:anchr>
                <p228:comment id="{0012007F-4FA2-C240-A9A5-BA1E69A3EFEF}"/>
              </p228:anchr>
              <p228:date stDt="2026-08-10T14:32:30.634" endDt="2026-08-10T14:32:30.634"/>
            </p228:event>
          </p228:history>
        </p228:taskDetails>
      </p:ext>
    </p188:extLst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E3390D-267D-6246-947E-530D6904208C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E9A66-960F-E94D-ABD0-7C322B4E3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8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30D78-F2C7-8C69-D947-3CE71AFD3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01E354-59BF-5EF3-FB12-33CE7C765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7CC44-7B96-F909-1ACE-EF460F47E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Pete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8C136-75A4-1737-2624-74BF5D906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576ACB-264A-7941-893C-E802B66C13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565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7C39B-E301-26C6-EB99-907764670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E5265-7DE4-8BBC-06D5-38FB2D758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4BA821-C6BE-1C51-FDAB-F0B50E781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D60B5-66E3-3C1A-A2E9-D1497627F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576ACB-264A-7941-893C-E802B66C13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5465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Pete – evolution of tools, Sigma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E9A66-960F-E94D-ABD0-7C322B4E34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34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460C6-05A9-2E2F-9EB9-1C920104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9D1E6-12CB-2A89-C861-4FF6FC7AF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F1C4F-8B17-4D30-5573-0F0CB0414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24D8C-7C34-6B29-E411-D0FC06D3BA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E9A66-960F-E94D-ABD0-7C322B4E34C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634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576ACB-264A-7941-893C-E802B66C13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35886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E9A66-960F-E94D-ABD0-7C322B4E34C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218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Liz – for tomorrow, having it be more outcome oriented – add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6E9A66-960F-E94D-ABD0-7C322B4E34C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797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example tied back into the model, current/future state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6E9A66-960F-E94D-ABD0-7C322B4E34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21027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C18E3-9BE0-8C37-B449-DDCD8F90E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9990FD-4DC4-CD78-F506-663AADD1B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23B86-6DFE-2089-FA2C-2802A9A40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919D1-0B5B-106B-E730-FF355FC6F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6E9A66-960F-E94D-ABD0-7C322B4E34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338516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hyperlink" Target="https://www.linkedin.com/company/cleartelligence/" TargetMode="External"/><Relationship Id="rId5" Type="http://schemas.openxmlformats.org/officeDocument/2006/relationships/image" Target="../media/image14.png"/><Relationship Id="rId6" Type="http://schemas.openxmlformats.org/officeDocument/2006/relationships/hyperlink" Target="https://www.cleartelligence.com/" TargetMode="Externa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hyperlink" Target="https://www.linkedin.com/company/cleartelligence/" TargetMode="External"/><Relationship Id="rId5" Type="http://schemas.openxmlformats.org/officeDocument/2006/relationships/image" Target="../media/image14.png"/><Relationship Id="rId6" Type="http://schemas.openxmlformats.org/officeDocument/2006/relationships/hyperlink" Target="https://www.cleartelligence.com/" TargetMode="Externa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5B98E0C-4CD9-B4F4-D363-FE568DB02B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18258" y="5220238"/>
            <a:ext cx="3209544" cy="647798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4CCD26CC-D449-B1D8-88F9-EA77AF5A2AF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11169" y="2203926"/>
            <a:ext cx="9769661" cy="221042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7000" spc="-150">
                <a:solidFill>
                  <a:srgbClr val="3F8EC9"/>
                </a:solidFill>
                <a:latin typeface="+mj-lt"/>
                <a:cs typeface="Arial"/>
              </a:rPr>
              <a:t>When you trust your data, </a:t>
            </a:r>
            <a:r>
              <a:rPr lang="en-US" sz="7000" spc="-150">
                <a:solidFill>
                  <a:srgbClr val="182D50"/>
                </a:solidFill>
                <a:latin typeface="+mj-lt"/>
                <a:cs typeface="Arial"/>
              </a:rPr>
              <a:t>everything</a:t>
            </a:r>
            <a:r>
              <a:rPr lang="en-US" sz="7000" spc="-150">
                <a:solidFill>
                  <a:srgbClr val="3F8EC9"/>
                </a:solidFill>
                <a:latin typeface="+mj-lt"/>
                <a:cs typeface="Arial"/>
              </a:rPr>
              <a:t> is possible.</a:t>
            </a:r>
            <a:endParaRPr lang="en-US" sz="7000" spc="-150">
              <a:solidFill>
                <a:srgbClr val="3F8EC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63159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696ED-0232-A0B5-0BBC-72BDE415D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085" y="1336431"/>
            <a:ext cx="6567853" cy="553915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32801A-86F8-CA7E-6FE4-F677371C9018}"/>
              </a:ext>
            </a:extLst>
          </p:cNvPr>
          <p:cNvCxnSpPr>
            <a:cxnSpLocks/>
          </p:cNvCxnSpPr>
          <p:nvPr userDrawn="1"/>
        </p:nvCxnSpPr>
        <p:spPr>
          <a:xfrm>
            <a:off x="589085" y="2057400"/>
            <a:ext cx="9944100" cy="0"/>
          </a:xfrm>
          <a:prstGeom prst="line">
            <a:avLst/>
          </a:prstGeom>
          <a:ln w="12700">
            <a:solidFill>
              <a:srgbClr val="406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CE44468-9379-18A9-F58C-00C329FC53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89085" y="2444273"/>
            <a:ext cx="6567853" cy="3328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697988-7E24-5346-CA36-7364B60FDE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085" y="6521563"/>
            <a:ext cx="913423" cy="1394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2D40AF9-7FEF-8FFE-C3E3-BE6E6C32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8906" y="6515983"/>
            <a:ext cx="373428" cy="1534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E7AA94C7-5BC1-95B0-5DFA-1B67A8F0AF0C}"/>
              </a:ext>
            </a:extLst>
          </p:cNvPr>
          <p:cNvSpPr txBox="1">
            <a:spLocks/>
          </p:cNvSpPr>
          <p:nvPr userDrawn="1"/>
        </p:nvSpPr>
        <p:spPr>
          <a:xfrm>
            <a:off x="5196816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</p:spTree>
    <p:extLst>
      <p:ext uri="{BB962C8B-B14F-4D97-AF65-F5344CB8AC3E}">
        <p14:creationId xmlns:p14="http://schemas.microsoft.com/office/powerpoint/2010/main" val="91804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3ECB9C-8F66-CACB-9AAF-C604485EE6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65482" y="3715935"/>
            <a:ext cx="9137162" cy="410876"/>
          </a:xfrm>
        </p:spPr>
        <p:txBody>
          <a:bodyPr/>
          <a:lstStyle>
            <a:lvl1pPr>
              <a:buNone/>
              <a:defRPr sz="3000" b="0">
                <a:solidFill>
                  <a:srgbClr val="408EC9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When you trust your data, everything is possible.​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200599E-CFFF-ABC7-1DF3-1B9900B7236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482" y="1629689"/>
            <a:ext cx="9036802" cy="1855136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600" b="0" spc="-300">
                <a:solidFill>
                  <a:srgbClr val="182D50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Enterprise Data &amp; </a:t>
            </a:r>
          </a:p>
          <a:p>
            <a:pPr lvl="0"/>
            <a:r>
              <a:rPr lang="en-US"/>
              <a:t>AI Services Capabilities​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C74AB97D-4543-EA7B-9D0B-FA7799D1211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173782" y="4875117"/>
            <a:ext cx="8367729" cy="317088"/>
          </a:xfrm>
        </p:spPr>
        <p:txBody>
          <a:bodyPr/>
          <a:lstStyle>
            <a:lvl1pPr algn="r">
              <a:buNone/>
              <a:defRPr sz="13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Prepared for Apple​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8974A075-9B04-8CAD-8BAE-4920BD6B7A3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3783" y="5268131"/>
            <a:ext cx="8367730" cy="410876"/>
          </a:xfrm>
        </p:spPr>
        <p:txBody>
          <a:bodyPr/>
          <a:lstStyle>
            <a:lvl1pPr algn="r">
              <a:buNone/>
              <a:defRPr sz="24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February 2026​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2EAFB431-8C98-B1F7-2045-C902AD9E940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173781" y="5978233"/>
            <a:ext cx="8367730" cy="317088"/>
          </a:xfrm>
        </p:spPr>
        <p:txBody>
          <a:bodyPr/>
          <a:lstStyle>
            <a:lvl1pPr algn="r">
              <a:buNone/>
              <a:defRPr sz="13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Confidential – For Apple Internal Review​</a:t>
            </a:r>
          </a:p>
        </p:txBody>
      </p:sp>
    </p:spTree>
    <p:extLst>
      <p:ext uri="{BB962C8B-B14F-4D97-AF65-F5344CB8AC3E}">
        <p14:creationId xmlns:p14="http://schemas.microsoft.com/office/powerpoint/2010/main" val="1554876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9C232C7-DE04-A94A-79AD-37CA1D21EE0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D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9C7A7"/>
              </a:solidFill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FB6D31BE-E12B-14C4-D18A-D8FA57C0EFA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11169" y="2203926"/>
            <a:ext cx="9769661" cy="221042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7000" spc="-150">
                <a:solidFill>
                  <a:srgbClr val="E9C7A7"/>
                </a:solidFill>
                <a:latin typeface="+mj-lt"/>
                <a:cs typeface="Arial"/>
              </a:rPr>
              <a:t>When you trust your data, </a:t>
            </a:r>
            <a:r>
              <a:rPr lang="en-US" sz="7000" spc="-150">
                <a:solidFill>
                  <a:schemeClr val="bg1"/>
                </a:solidFill>
                <a:latin typeface="+mj-lt"/>
                <a:cs typeface="Arial"/>
              </a:rPr>
              <a:t>everything</a:t>
            </a:r>
            <a:r>
              <a:rPr lang="en-US" sz="7000" spc="-150">
                <a:solidFill>
                  <a:srgbClr val="E9C7A7"/>
                </a:solidFill>
                <a:latin typeface="+mj-lt"/>
                <a:cs typeface="Arial"/>
              </a:rPr>
              <a:t> is possible.</a:t>
            </a:r>
            <a:endParaRPr lang="en-US" sz="7000" spc="-150">
              <a:solidFill>
                <a:srgbClr val="E9C7A7"/>
              </a:solidFill>
              <a:latin typeface="+mj-lt"/>
            </a:endParaRPr>
          </a:p>
        </p:txBody>
      </p:sp>
      <p:pic>
        <p:nvPicPr>
          <p:cNvPr id="27" name="Picture 26" descr="A black and white logo&#10;&#10;AI-generated content may be incorrect.">
            <a:extLst>
              <a:ext uri="{FF2B5EF4-FFF2-40B4-BE49-F238E27FC236}">
                <a16:creationId xmlns:a16="http://schemas.microsoft.com/office/drawing/2014/main" id="{93E0427B-5FF8-3608-2AFA-4B0CDF2669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2774" y="5220238"/>
            <a:ext cx="3205028" cy="64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4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A5329511-EFC2-AB3B-389B-CBB75070ED64}"/>
              </a:ext>
            </a:extLst>
          </p:cNvPr>
          <p:cNvSpPr>
            <a:spLocks noGrp="1"/>
          </p:cNvSpPr>
          <p:nvPr>
            <p:ph type="subTitle" idx="4294967295" hasCustomPrompt="1"/>
          </p:nvPr>
        </p:nvSpPr>
        <p:spPr>
          <a:xfrm>
            <a:off x="5798948" y="1574928"/>
            <a:ext cx="6372045" cy="3708143"/>
          </a:xfrm>
        </p:spPr>
        <p:txBody>
          <a:bodyPr>
            <a:noAutofit/>
          </a:bodyPr>
          <a:lstStyle>
            <a:lvl1pPr>
              <a:buNone/>
              <a:defRPr/>
            </a:lvl1pPr>
          </a:lstStyle>
          <a:p>
            <a:pPr algn="l"/>
            <a:r>
              <a:rPr lang="en-US" sz="7000" spc="-300">
                <a:solidFill>
                  <a:srgbClr val="3F8EC9"/>
                </a:solidFill>
                <a:cs typeface="Arial"/>
              </a:rPr>
              <a:t>When you </a:t>
            </a:r>
            <a:r>
              <a:rPr lang="en-US" sz="7000" spc="-300">
                <a:solidFill>
                  <a:srgbClr val="194376"/>
                </a:solidFill>
                <a:cs typeface="Arial"/>
              </a:rPr>
              <a:t>trust</a:t>
            </a:r>
            <a:r>
              <a:rPr lang="en-US" sz="7000" spc="-300">
                <a:solidFill>
                  <a:srgbClr val="3F8EC9"/>
                </a:solidFill>
                <a:cs typeface="Arial"/>
              </a:rPr>
              <a:t> your data, everything is </a:t>
            </a:r>
            <a:r>
              <a:rPr lang="en-US" sz="7000" spc="-300">
                <a:solidFill>
                  <a:srgbClr val="194376"/>
                </a:solidFill>
                <a:cs typeface="Arial"/>
              </a:rPr>
              <a:t>possible.</a:t>
            </a:r>
            <a:endParaRPr lang="en-US" sz="7000" spc="-300">
              <a:solidFill>
                <a:srgbClr val="194376"/>
              </a:solidFill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8C72DF7-5DAB-960C-A646-2F7A43B5AC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5056" y="3061765"/>
            <a:ext cx="3304057" cy="6668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AC95E1-569E-52AE-FB83-3FECC546D6B2}"/>
              </a:ext>
            </a:extLst>
          </p:cNvPr>
          <p:cNvCxnSpPr>
            <a:cxnSpLocks/>
          </p:cNvCxnSpPr>
          <p:nvPr userDrawn="1"/>
        </p:nvCxnSpPr>
        <p:spPr>
          <a:xfrm flipV="1">
            <a:off x="5060739" y="1718442"/>
            <a:ext cx="0" cy="358039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422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494A29-7A29-E929-E045-124DA37E1E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D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>
              <a:solidFill>
                <a:srgbClr val="E9C7A7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72CFFA-1105-5B0E-00EF-A208DA3C2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335" y="2463800"/>
            <a:ext cx="4631265" cy="2579132"/>
          </a:xfrm>
        </p:spPr>
        <p:txBody>
          <a:bodyPr anchor="t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A9B3C-BF88-4E68-7700-DAE6B0225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7" name="Picture 6" descr="A black and white background with white dots&#10;&#10;AI-generated content may be incorrect.">
            <a:extLst>
              <a:ext uri="{FF2B5EF4-FFF2-40B4-BE49-F238E27FC236}">
                <a16:creationId xmlns:a16="http://schemas.microsoft.com/office/drawing/2014/main" id="{ABF9A262-46CD-6988-8F93-E559086472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9964" y="394893"/>
            <a:ext cx="393281" cy="393281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7494928-3B8A-BB00-9343-15BE6CD9EB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49865F-4CCB-0BEC-C8BA-CA971AD7CE9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4335" y="1980650"/>
            <a:ext cx="3193775" cy="346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buNone/>
              <a:defRPr sz="1600" spc="300">
                <a:solidFill>
                  <a:srgbClr val="F4B137"/>
                </a:solidFill>
              </a:defRPr>
            </a:lvl1pPr>
          </a:lstStyle>
          <a:p>
            <a:pPr lvl="0"/>
            <a:r>
              <a:rPr lang="en-US"/>
              <a:t>LORUM IPSUM</a:t>
            </a:r>
          </a:p>
        </p:txBody>
      </p:sp>
    </p:spTree>
    <p:extLst>
      <p:ext uri="{BB962C8B-B14F-4D97-AF65-F5344CB8AC3E}">
        <p14:creationId xmlns:p14="http://schemas.microsoft.com/office/powerpoint/2010/main" val="176516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891F61-DE3B-CEBC-C456-94A721A4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6" name="Picture 5" descr="A black and white image of a graph&#10;&#10;AI-generated content may be incorrect.">
            <a:extLst>
              <a:ext uri="{FF2B5EF4-FFF2-40B4-BE49-F238E27FC236}">
                <a16:creationId xmlns:a16="http://schemas.microsoft.com/office/drawing/2014/main" id="{722A4988-F6ED-8C6F-38BE-D1E266664C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9319" t="122" r="32267" b="29309"/>
          <a:stretch>
            <a:fillRect/>
          </a:stretch>
        </p:blipFill>
        <p:spPr>
          <a:xfrm>
            <a:off x="256480" y="256032"/>
            <a:ext cx="3096320" cy="5966968"/>
          </a:xfrm>
          <a:prstGeom prst="roundRect">
            <a:avLst>
              <a:gd name="adj" fmla="val 3010"/>
            </a:avLst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221CA679-91AD-C4CE-7D18-455C8BB48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B3EA3ED-F6D9-A0D3-4955-55A167CBA5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54EC1CCD-AB9F-A81F-CE9F-ACE02D3800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1176" y="402481"/>
            <a:ext cx="4477694" cy="2579132"/>
          </a:xfrm>
        </p:spPr>
        <p:txBody>
          <a:bodyPr anchor="t" anchorCtr="0">
            <a:noAutofit/>
          </a:bodyPr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A4A3116-1090-2F48-C126-A4F2739B1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216" y="591534"/>
            <a:ext cx="2858584" cy="1988516"/>
          </a:xfrm>
        </p:spPr>
        <p:txBody>
          <a:bodyPr/>
          <a:lstStyle>
            <a:lvl1pPr marL="0" indent="0">
              <a:buNone/>
              <a:defRPr sz="3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0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891F61-DE3B-CEBC-C456-94A721A4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2A4988-F6ED-8C6F-38BE-D1E266664C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52" r="58574"/>
          <a:stretch>
            <a:fillRect/>
          </a:stretch>
        </p:blipFill>
        <p:spPr>
          <a:xfrm>
            <a:off x="256480" y="256032"/>
            <a:ext cx="3096320" cy="5966968"/>
          </a:xfrm>
          <a:prstGeom prst="roundRect">
            <a:avLst>
              <a:gd name="adj" fmla="val 3010"/>
            </a:avLst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221CA679-91AD-C4CE-7D18-455C8BB48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B3EA3ED-F6D9-A0D3-4955-55A167CBA5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54EC1CCD-AB9F-A81F-CE9F-ACE02D3800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1176" y="402481"/>
            <a:ext cx="4477694" cy="2579132"/>
          </a:xfrm>
        </p:spPr>
        <p:txBody>
          <a:bodyPr anchor="t" anchorCtr="0">
            <a:noAutofit/>
          </a:bodyPr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A4A3116-1090-2F48-C126-A4F2739B1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216" y="591534"/>
            <a:ext cx="2858584" cy="1988516"/>
          </a:xfrm>
        </p:spPr>
        <p:txBody>
          <a:bodyPr/>
          <a:lstStyle>
            <a:lvl1pPr marL="0" indent="0">
              <a:buNone/>
              <a:defRPr sz="3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4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891F61-DE3B-CEBC-C456-94A721A4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2A4988-F6ED-8C6F-38BE-D1E266664C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1260" t="2842" r="4904" b="412"/>
          <a:stretch>
            <a:fillRect/>
          </a:stretch>
        </p:blipFill>
        <p:spPr>
          <a:xfrm>
            <a:off x="8808092" y="256032"/>
            <a:ext cx="3096320" cy="5966968"/>
          </a:xfrm>
          <a:prstGeom prst="roundRect">
            <a:avLst>
              <a:gd name="adj" fmla="val 3010"/>
            </a:avLst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221CA679-91AD-C4CE-7D18-455C8BB48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B3EA3ED-F6D9-A0D3-4955-55A167CBA5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54EC1CCD-AB9F-A81F-CE9F-ACE02D3800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348" y="402481"/>
            <a:ext cx="4477694" cy="2579132"/>
          </a:xfrm>
        </p:spPr>
        <p:txBody>
          <a:bodyPr anchor="t" anchorCtr="0">
            <a:noAutofit/>
          </a:bodyPr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A4A3116-1090-2F48-C126-A4F2739B1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5828" y="3851569"/>
            <a:ext cx="2858584" cy="1988516"/>
          </a:xfrm>
        </p:spPr>
        <p:txBody>
          <a:bodyPr>
            <a:noAutofit/>
          </a:bodyPr>
          <a:lstStyle>
            <a:lvl1pPr marL="0" indent="0">
              <a:buNone/>
              <a:defRPr sz="3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pic>
        <p:nvPicPr>
          <p:cNvPr id="2" name="Picture 1" descr="A black and white background with white dots&#10;&#10;AI-generated content may be incorrect.">
            <a:extLst>
              <a:ext uri="{FF2B5EF4-FFF2-40B4-BE49-F238E27FC236}">
                <a16:creationId xmlns:a16="http://schemas.microsoft.com/office/drawing/2014/main" id="{C5654277-E8BA-C16E-6141-AD81D8A680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47553" y="400052"/>
            <a:ext cx="380536" cy="38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929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4F879-562D-6A53-7591-F053DF0D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1B75E-1A05-A247-00D1-13B39FDAC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3C5BEBF-1AF1-7B8C-73D6-3C42423808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60C3DCE-F6E4-C0C1-B546-3A7E263BD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E75E058-0134-729A-43D5-04D28691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834640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84052-8FF2-36C8-7FD2-A884E0191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164781"/>
            <a:ext cx="8763000" cy="883042"/>
          </a:xfrm>
        </p:spPr>
        <p:txBody>
          <a:bodyPr/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6368A87-E4E9-1F1B-2482-99D05560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38198C0-BFC4-DD8B-2BAC-864962BED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pic>
        <p:nvPicPr>
          <p:cNvPr id="14" name="Picture 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AFB287F-8BE2-76D0-7BE5-0DB5E9ECA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28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Ligh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EF89AB-4A3D-57EE-0B97-EA0A1CA222A7}"/>
              </a:ext>
            </a:extLst>
          </p:cNvPr>
          <p:cNvCxnSpPr>
            <a:cxnSpLocks/>
          </p:cNvCxnSpPr>
          <p:nvPr userDrawn="1"/>
        </p:nvCxnSpPr>
        <p:spPr>
          <a:xfrm>
            <a:off x="0" y="6379862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B753D38D-B67F-E8E1-46F1-FF24ABEFFC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085" y="6521563"/>
            <a:ext cx="913423" cy="1394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E15E105-D646-39E9-4CAB-E53CD059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3625" y="6515983"/>
            <a:ext cx="373428" cy="1534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76A4949-537A-F3C3-02F0-801CF3BDD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27386" y="6512814"/>
            <a:ext cx="2789422" cy="153413"/>
          </a:xfrm>
        </p:spPr>
        <p:txBody>
          <a:bodyPr/>
          <a:lstStyle>
            <a:lvl1pPr algn="l">
              <a:defRPr b="0" i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Executive Summary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1F0870D-F2ED-B77A-D581-D81CF8CA73F5}"/>
              </a:ext>
            </a:extLst>
          </p:cNvPr>
          <p:cNvSpPr txBox="1">
            <a:spLocks/>
          </p:cNvSpPr>
          <p:nvPr userDrawn="1"/>
        </p:nvSpPr>
        <p:spPr>
          <a:xfrm>
            <a:off x="5941535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9143AEA-5F7A-9B7E-5CEA-9A18F583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085" y="365126"/>
            <a:ext cx="11007969" cy="89102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EDDB61-D722-5792-6928-51C1E3FCF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85" y="1625600"/>
            <a:ext cx="11007969" cy="455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1031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5B98E0C-4CD9-B4F4-D363-FE568DB02B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18258" y="5220238"/>
            <a:ext cx="3209544" cy="647798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4CCD26CC-D449-B1D8-88F9-EA77AF5A2AF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11169" y="2203926"/>
            <a:ext cx="9769661" cy="221042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7000" spc="-150">
                <a:solidFill>
                  <a:srgbClr val="3F8EC9"/>
                </a:solidFill>
                <a:latin typeface="+mj-lt"/>
                <a:cs typeface="Arial"/>
              </a:rPr>
              <a:t>When you trust your data, </a:t>
            </a:r>
            <a:r>
              <a:rPr lang="en-US" sz="7000" spc="-150">
                <a:solidFill>
                  <a:srgbClr val="182D50"/>
                </a:solidFill>
                <a:latin typeface="+mj-lt"/>
                <a:cs typeface="Arial"/>
              </a:rPr>
              <a:t>everything</a:t>
            </a:r>
            <a:r>
              <a:rPr lang="en-US" sz="7000" spc="-150">
                <a:solidFill>
                  <a:srgbClr val="3F8EC9"/>
                </a:solidFill>
                <a:latin typeface="+mj-lt"/>
                <a:cs typeface="Arial"/>
              </a:rPr>
              <a:t> is possible.</a:t>
            </a:r>
            <a:endParaRPr lang="en-US" sz="7000" spc="-150">
              <a:solidFill>
                <a:srgbClr val="3F8EC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9353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3ECB9C-8F66-CACB-9AAF-C604485EE6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65482" y="3715935"/>
            <a:ext cx="9137162" cy="410876"/>
          </a:xfrm>
        </p:spPr>
        <p:txBody>
          <a:bodyPr/>
          <a:lstStyle>
            <a:lvl1pPr>
              <a:buNone/>
              <a:defRPr sz="3000" b="0">
                <a:solidFill>
                  <a:srgbClr val="408EC9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When you trust your data, everything is possible.​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200599E-CFFF-ABC7-1DF3-1B9900B7236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482" y="1629689"/>
            <a:ext cx="9036802" cy="1855136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600" b="0" spc="-300">
                <a:solidFill>
                  <a:srgbClr val="182D50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Enterprise Data &amp; </a:t>
            </a:r>
          </a:p>
          <a:p>
            <a:pPr lvl="0"/>
            <a:r>
              <a:rPr lang="en-US"/>
              <a:t>AI Services Capabilities​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C74AB97D-4543-EA7B-9D0B-FA7799D1211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173782" y="4875117"/>
            <a:ext cx="8367729" cy="317088"/>
          </a:xfrm>
        </p:spPr>
        <p:txBody>
          <a:bodyPr/>
          <a:lstStyle>
            <a:lvl1pPr algn="r">
              <a:buNone/>
              <a:defRPr sz="13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Prepared for Apple​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8974A075-9B04-8CAD-8BAE-4920BD6B7A3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3783" y="5268131"/>
            <a:ext cx="8367730" cy="410876"/>
          </a:xfrm>
        </p:spPr>
        <p:txBody>
          <a:bodyPr/>
          <a:lstStyle>
            <a:lvl1pPr algn="r">
              <a:buNone/>
              <a:defRPr sz="24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February 2026​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2EAFB431-8C98-B1F7-2045-C902AD9E940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173781" y="5978233"/>
            <a:ext cx="8367730" cy="317088"/>
          </a:xfrm>
        </p:spPr>
        <p:txBody>
          <a:bodyPr/>
          <a:lstStyle>
            <a:lvl1pPr algn="r">
              <a:buNone/>
              <a:defRPr sz="13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Confidential – For Apple Internal Review​</a:t>
            </a:r>
          </a:p>
        </p:txBody>
      </p:sp>
    </p:spTree>
    <p:extLst>
      <p:ext uri="{BB962C8B-B14F-4D97-AF65-F5344CB8AC3E}">
        <p14:creationId xmlns:p14="http://schemas.microsoft.com/office/powerpoint/2010/main" val="758447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9C232C7-DE04-A94A-79AD-37CA1D21EE0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D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9C7A7"/>
              </a:solidFill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FB6D31BE-E12B-14C4-D18A-D8FA57C0EFA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11169" y="2203926"/>
            <a:ext cx="9769661" cy="221042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7000" spc="-150">
                <a:solidFill>
                  <a:srgbClr val="E9C7A7"/>
                </a:solidFill>
                <a:latin typeface="+mj-lt"/>
                <a:cs typeface="Arial"/>
              </a:rPr>
              <a:t>When you trust your data, </a:t>
            </a:r>
            <a:r>
              <a:rPr lang="en-US" sz="7000" spc="-150">
                <a:solidFill>
                  <a:schemeClr val="bg1"/>
                </a:solidFill>
                <a:latin typeface="+mj-lt"/>
                <a:cs typeface="Arial"/>
              </a:rPr>
              <a:t>everything</a:t>
            </a:r>
            <a:r>
              <a:rPr lang="en-US" sz="7000" spc="-150">
                <a:solidFill>
                  <a:srgbClr val="E9C7A7"/>
                </a:solidFill>
                <a:latin typeface="+mj-lt"/>
                <a:cs typeface="Arial"/>
              </a:rPr>
              <a:t> is possible.</a:t>
            </a:r>
            <a:endParaRPr lang="en-US" sz="7000" spc="-150">
              <a:solidFill>
                <a:srgbClr val="E9C7A7"/>
              </a:solidFill>
              <a:latin typeface="+mj-lt"/>
            </a:endParaRPr>
          </a:p>
        </p:txBody>
      </p:sp>
      <p:pic>
        <p:nvPicPr>
          <p:cNvPr id="27" name="Picture 26" descr="A black and white logo&#10;&#10;AI-generated content may be incorrect.">
            <a:extLst>
              <a:ext uri="{FF2B5EF4-FFF2-40B4-BE49-F238E27FC236}">
                <a16:creationId xmlns:a16="http://schemas.microsoft.com/office/drawing/2014/main" id="{93E0427B-5FF8-3608-2AFA-4B0CDF2669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2774" y="5220238"/>
            <a:ext cx="3205028" cy="64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191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A5329511-EFC2-AB3B-389B-CBB75070ED64}"/>
              </a:ext>
            </a:extLst>
          </p:cNvPr>
          <p:cNvSpPr>
            <a:spLocks noGrp="1"/>
          </p:cNvSpPr>
          <p:nvPr>
            <p:ph type="subTitle" idx="4294967295" hasCustomPrompt="1"/>
          </p:nvPr>
        </p:nvSpPr>
        <p:spPr>
          <a:xfrm>
            <a:off x="5798948" y="1574928"/>
            <a:ext cx="6372045" cy="3708143"/>
          </a:xfrm>
        </p:spPr>
        <p:txBody>
          <a:bodyPr>
            <a:noAutofit/>
          </a:bodyPr>
          <a:lstStyle>
            <a:lvl1pPr>
              <a:buNone/>
              <a:defRPr/>
            </a:lvl1pPr>
          </a:lstStyle>
          <a:p>
            <a:pPr algn="l"/>
            <a:r>
              <a:rPr lang="en-US" sz="7000" spc="-300">
                <a:solidFill>
                  <a:srgbClr val="3F8EC9"/>
                </a:solidFill>
                <a:cs typeface="Arial"/>
              </a:rPr>
              <a:t>When you </a:t>
            </a:r>
            <a:r>
              <a:rPr lang="en-US" sz="7000" spc="-300">
                <a:solidFill>
                  <a:srgbClr val="194376"/>
                </a:solidFill>
                <a:cs typeface="Arial"/>
              </a:rPr>
              <a:t>trust</a:t>
            </a:r>
            <a:r>
              <a:rPr lang="en-US" sz="7000" spc="-300">
                <a:solidFill>
                  <a:srgbClr val="3F8EC9"/>
                </a:solidFill>
                <a:cs typeface="Arial"/>
              </a:rPr>
              <a:t> your data, everything is </a:t>
            </a:r>
            <a:r>
              <a:rPr lang="en-US" sz="7000" spc="-300">
                <a:solidFill>
                  <a:srgbClr val="194376"/>
                </a:solidFill>
                <a:cs typeface="Arial"/>
              </a:rPr>
              <a:t>possible.</a:t>
            </a:r>
            <a:endParaRPr lang="en-US" sz="7000" spc="-300">
              <a:solidFill>
                <a:srgbClr val="194376"/>
              </a:solidFill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8C72DF7-5DAB-960C-A646-2F7A43B5AC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5056" y="3061765"/>
            <a:ext cx="3304057" cy="66687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AC95E1-569E-52AE-FB83-3FECC546D6B2}"/>
              </a:ext>
            </a:extLst>
          </p:cNvPr>
          <p:cNvCxnSpPr>
            <a:cxnSpLocks/>
          </p:cNvCxnSpPr>
          <p:nvPr userDrawn="1"/>
        </p:nvCxnSpPr>
        <p:spPr>
          <a:xfrm flipV="1">
            <a:off x="5060739" y="1718442"/>
            <a:ext cx="0" cy="358039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6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rgbClr val="0621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494A29-7A29-E929-E045-124DA37E1E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0F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>
              <a:solidFill>
                <a:srgbClr val="E9C7A7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72CFFA-1105-5B0E-00EF-A208DA3C2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335" y="2463800"/>
            <a:ext cx="4631265" cy="2579132"/>
          </a:xfrm>
        </p:spPr>
        <p:txBody>
          <a:bodyPr anchor="t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A9B3C-BF88-4E68-7700-DAE6B0225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7" name="Picture 6" descr="A black and white background with white dots&#10;&#10;AI-generated content may be incorrect.">
            <a:extLst>
              <a:ext uri="{FF2B5EF4-FFF2-40B4-BE49-F238E27FC236}">
                <a16:creationId xmlns:a16="http://schemas.microsoft.com/office/drawing/2014/main" id="{ABF9A262-46CD-6988-8F93-E559086472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9964" y="394893"/>
            <a:ext cx="393281" cy="393281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7494928-3B8A-BB00-9343-15BE6CD9EB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49865F-4CCB-0BEC-C8BA-CA971AD7CE9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4335" y="1980650"/>
            <a:ext cx="3193775" cy="346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buNone/>
              <a:defRPr sz="1600" spc="300">
                <a:solidFill>
                  <a:srgbClr val="F4B137"/>
                </a:solidFill>
              </a:defRPr>
            </a:lvl1pPr>
          </a:lstStyle>
          <a:p>
            <a:pPr lvl="0"/>
            <a:r>
              <a:rPr lang="en-US"/>
              <a:t>LORUM IPSUM</a:t>
            </a:r>
          </a:p>
        </p:txBody>
      </p:sp>
    </p:spTree>
    <p:extLst>
      <p:ext uri="{BB962C8B-B14F-4D97-AF65-F5344CB8AC3E}">
        <p14:creationId xmlns:p14="http://schemas.microsoft.com/office/powerpoint/2010/main" val="41459218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891F61-DE3B-CEBC-C456-94A721A4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6" name="Picture 5" descr="A black and white image of a graph&#10;&#10;AI-generated content may be incorrect.">
            <a:extLst>
              <a:ext uri="{FF2B5EF4-FFF2-40B4-BE49-F238E27FC236}">
                <a16:creationId xmlns:a16="http://schemas.microsoft.com/office/drawing/2014/main" id="{722A4988-F6ED-8C6F-38BE-D1E266664C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9319" t="122" r="32267" b="29309"/>
          <a:stretch>
            <a:fillRect/>
          </a:stretch>
        </p:blipFill>
        <p:spPr>
          <a:xfrm>
            <a:off x="256480" y="256032"/>
            <a:ext cx="3096320" cy="5966968"/>
          </a:xfrm>
          <a:prstGeom prst="roundRect">
            <a:avLst>
              <a:gd name="adj" fmla="val 3010"/>
            </a:avLst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221CA679-91AD-C4CE-7D18-455C8BB48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B3EA3ED-F6D9-A0D3-4955-55A167CBA5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54EC1CCD-AB9F-A81F-CE9F-ACE02D3800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1176" y="402481"/>
            <a:ext cx="4477694" cy="2579132"/>
          </a:xfrm>
        </p:spPr>
        <p:txBody>
          <a:bodyPr anchor="t" anchorCtr="0">
            <a:noAutofit/>
          </a:bodyPr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A4A3116-1090-2F48-C126-A4F2739B1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216" y="591534"/>
            <a:ext cx="2858584" cy="1988516"/>
          </a:xfrm>
        </p:spPr>
        <p:txBody>
          <a:bodyPr/>
          <a:lstStyle>
            <a:lvl1pPr marL="0" indent="0">
              <a:buNone/>
              <a:defRPr sz="3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0025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891F61-DE3B-CEBC-C456-94A721A4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2A4988-F6ED-8C6F-38BE-D1E266664C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52" r="58574"/>
          <a:stretch>
            <a:fillRect/>
          </a:stretch>
        </p:blipFill>
        <p:spPr>
          <a:xfrm>
            <a:off x="256480" y="256032"/>
            <a:ext cx="3096320" cy="5966968"/>
          </a:xfrm>
          <a:prstGeom prst="roundRect">
            <a:avLst>
              <a:gd name="adj" fmla="val 3010"/>
            </a:avLst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221CA679-91AD-C4CE-7D18-455C8BB48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B3EA3ED-F6D9-A0D3-4955-55A167CBA5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54EC1CCD-AB9F-A81F-CE9F-ACE02D3800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1176" y="402481"/>
            <a:ext cx="4477694" cy="2579132"/>
          </a:xfrm>
        </p:spPr>
        <p:txBody>
          <a:bodyPr anchor="t" anchorCtr="0">
            <a:noAutofit/>
          </a:bodyPr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A4A3116-1090-2F48-C126-A4F2739B1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216" y="591534"/>
            <a:ext cx="2858584" cy="1988516"/>
          </a:xfrm>
        </p:spPr>
        <p:txBody>
          <a:bodyPr/>
          <a:lstStyle>
            <a:lvl1pPr marL="0" indent="0">
              <a:buNone/>
              <a:defRPr sz="3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024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891F61-DE3B-CEBC-C456-94A721A4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2A4988-F6ED-8C6F-38BE-D1E266664C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8958" t="-26" r="21854" b="26"/>
          <a:stretch>
            <a:fillRect/>
          </a:stretch>
        </p:blipFill>
        <p:spPr>
          <a:xfrm>
            <a:off x="8808092" y="256032"/>
            <a:ext cx="3096320" cy="5966968"/>
          </a:xfrm>
          <a:prstGeom prst="roundRect">
            <a:avLst>
              <a:gd name="adj" fmla="val 3010"/>
            </a:avLst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221CA679-91AD-C4CE-7D18-455C8BB48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B3EA3ED-F6D9-A0D3-4955-55A167CBA5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54EC1CCD-AB9F-A81F-CE9F-ACE02D3800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348" y="402481"/>
            <a:ext cx="4477694" cy="2579132"/>
          </a:xfrm>
        </p:spPr>
        <p:txBody>
          <a:bodyPr anchor="t" anchorCtr="0">
            <a:noAutofit/>
          </a:bodyPr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A4A3116-1090-2F48-C126-A4F2739B1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5828" y="3851569"/>
            <a:ext cx="2858584" cy="1988516"/>
          </a:xfrm>
        </p:spPr>
        <p:txBody>
          <a:bodyPr>
            <a:noAutofit/>
          </a:bodyPr>
          <a:lstStyle>
            <a:lvl1pPr marL="0" indent="0">
              <a:buNone/>
              <a:defRPr sz="3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pic>
        <p:nvPicPr>
          <p:cNvPr id="2" name="Picture 1" descr="A black and white background with white dots&#10;&#10;AI-generated content may be incorrect.">
            <a:extLst>
              <a:ext uri="{FF2B5EF4-FFF2-40B4-BE49-F238E27FC236}">
                <a16:creationId xmlns:a16="http://schemas.microsoft.com/office/drawing/2014/main" id="{C5654277-E8BA-C16E-6141-AD81D8A680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47553" y="400052"/>
            <a:ext cx="380536" cy="38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7505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4F879-562D-6A53-7591-F053DF0D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1B75E-1A05-A247-00D1-13B39FDAC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60C3DCE-F6E4-C0C1-B546-3A7E263BD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E75E058-0134-729A-43D5-04D28691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921928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84052-8FF2-36C8-7FD2-A884E0191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164781"/>
            <a:ext cx="8763000" cy="883042"/>
          </a:xfrm>
        </p:spPr>
        <p:txBody>
          <a:bodyPr/>
          <a:lstStyle>
            <a:lvl1pPr>
              <a:defRPr sz="4600">
                <a:solidFill>
                  <a:srgbClr val="182D5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6368A87-E4E9-1F1B-2482-99D05560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708" y="6412105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 sz="90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38198C0-BFC4-DD8B-2BAC-864962BED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1" y="6412105"/>
            <a:ext cx="5739294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pic>
        <p:nvPicPr>
          <p:cNvPr id="14" name="Picture 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AFB287F-8BE2-76D0-7BE5-0DB5E9ECA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31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E4EF3A9-5AC1-59AD-AC37-7B280500B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085" y="1635214"/>
            <a:ext cx="3801889" cy="760377"/>
          </a:xfrm>
          <a:prstGeom prst="rect">
            <a:avLst/>
          </a:prstGeom>
        </p:spPr>
      </p:pic>
      <p:pic>
        <p:nvPicPr>
          <p:cNvPr id="9" name="Picture 8">
            <a:hlinkClick r:id="rId4"/>
            <a:extLst>
              <a:ext uri="{FF2B5EF4-FFF2-40B4-BE49-F238E27FC236}">
                <a16:creationId xmlns:a16="http://schemas.microsoft.com/office/drawing/2014/main" id="{89D226CF-48EE-4553-30C6-71B3B02539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89085" y="4912783"/>
            <a:ext cx="259195" cy="257866"/>
          </a:xfrm>
          <a:prstGeom prst="rect">
            <a:avLst/>
          </a:prstGeom>
        </p:spPr>
      </p:pic>
      <p:sp>
        <p:nvSpPr>
          <p:cNvPr id="10" name="Subtitle 2">
            <a:hlinkClick r:id="rId6"/>
            <a:extLst>
              <a:ext uri="{FF2B5EF4-FFF2-40B4-BE49-F238E27FC236}">
                <a16:creationId xmlns:a16="http://schemas.microsoft.com/office/drawing/2014/main" id="{2636E653-3052-A5A3-2CE7-4428590BD093}"/>
              </a:ext>
            </a:extLst>
          </p:cNvPr>
          <p:cNvSpPr txBox="1">
            <a:spLocks/>
          </p:cNvSpPr>
          <p:nvPr userDrawn="1"/>
        </p:nvSpPr>
        <p:spPr>
          <a:xfrm>
            <a:off x="1071224" y="4765586"/>
            <a:ext cx="2911497" cy="457200"/>
          </a:xfrm>
          <a:prstGeom prst="rect">
            <a:avLst/>
          </a:prstGeom>
        </p:spPr>
        <p:txBody>
          <a:bodyPr vert="horz" lIns="0" tIns="45720" rIns="0" bIns="45720" rtlCol="0" anchor="b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 baseline="0">
                <a:solidFill>
                  <a:schemeClr val="bg2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|    </a:t>
            </a:r>
            <a:r>
              <a:rPr lang="en-US" err="1">
                <a:solidFill>
                  <a:schemeClr val="bg1"/>
                </a:solidFill>
              </a:rPr>
              <a:t>cleartelligence.com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2387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ol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1C7A739-427E-8991-5C29-2A9DAE6268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9086" y="6521563"/>
            <a:ext cx="913421" cy="13941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4C67F-71FE-07A0-D138-29FB4E38E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8906" y="6515983"/>
            <a:ext cx="373428" cy="1534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CFB5E80-2829-AA86-B5D8-3C764AFD7432}"/>
              </a:ext>
            </a:extLst>
          </p:cNvPr>
          <p:cNvSpPr txBox="1">
            <a:spLocks/>
          </p:cNvSpPr>
          <p:nvPr userDrawn="1"/>
        </p:nvSpPr>
        <p:spPr>
          <a:xfrm>
            <a:off x="5196816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>
                    <a:alpha val="60461"/>
                  </a:schemeClr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BB694DE-6622-7958-1739-86324B2742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085" y="4580792"/>
            <a:ext cx="4484077" cy="457200"/>
          </a:xfrm>
        </p:spPr>
        <p:txBody>
          <a:bodyPr anchor="b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Subhead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DAD4D-040B-AD4B-997B-E2BDC5AD02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9085" y="1995055"/>
            <a:ext cx="7411914" cy="2440664"/>
          </a:xfrm>
        </p:spPr>
        <p:txBody>
          <a:bodyPr anchor="b"/>
          <a:lstStyle>
            <a:lvl1pPr>
              <a:buNone/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1940743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Ligh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EF89AB-4A3D-57EE-0B97-EA0A1CA222A7}"/>
              </a:ext>
            </a:extLst>
          </p:cNvPr>
          <p:cNvCxnSpPr>
            <a:cxnSpLocks/>
          </p:cNvCxnSpPr>
          <p:nvPr userDrawn="1"/>
        </p:nvCxnSpPr>
        <p:spPr>
          <a:xfrm>
            <a:off x="0" y="6379862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B753D38D-B67F-E8E1-46F1-FF24ABEFFC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085" y="6521563"/>
            <a:ext cx="913423" cy="1394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E15E105-D646-39E9-4CAB-E53CD059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3625" y="6515983"/>
            <a:ext cx="373428" cy="1534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76A4949-537A-F3C3-02F0-801CF3BDD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27386" y="6512814"/>
            <a:ext cx="2789422" cy="153413"/>
          </a:xfrm>
        </p:spPr>
        <p:txBody>
          <a:bodyPr/>
          <a:lstStyle>
            <a:lvl1pPr algn="l">
              <a:defRPr b="0" i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Executive Summary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1F0870D-F2ED-B77A-D581-D81CF8CA73F5}"/>
              </a:ext>
            </a:extLst>
          </p:cNvPr>
          <p:cNvSpPr txBox="1">
            <a:spLocks/>
          </p:cNvSpPr>
          <p:nvPr userDrawn="1"/>
        </p:nvSpPr>
        <p:spPr>
          <a:xfrm>
            <a:off x="5941535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9143AEA-5F7A-9B7E-5CEA-9A18F583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085" y="365126"/>
            <a:ext cx="11007969" cy="89102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EDDB61-D722-5792-6928-51C1E3FCF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85" y="1625600"/>
            <a:ext cx="11007969" cy="455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62394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ol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1C7A739-427E-8991-5C29-2A9DAE6268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9086" y="6521563"/>
            <a:ext cx="913421" cy="13941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4C67F-71FE-07A0-D138-29FB4E38E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8906" y="6515983"/>
            <a:ext cx="373428" cy="1534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CFB5E80-2829-AA86-B5D8-3C764AFD7432}"/>
              </a:ext>
            </a:extLst>
          </p:cNvPr>
          <p:cNvSpPr txBox="1">
            <a:spLocks/>
          </p:cNvSpPr>
          <p:nvPr userDrawn="1"/>
        </p:nvSpPr>
        <p:spPr>
          <a:xfrm>
            <a:off x="5196816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>
                    <a:alpha val="60461"/>
                  </a:schemeClr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BB694DE-6622-7958-1739-86324B2742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085" y="4580792"/>
            <a:ext cx="4484077" cy="457200"/>
          </a:xfrm>
        </p:spPr>
        <p:txBody>
          <a:bodyPr anchor="b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Subhead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DAD4D-040B-AD4B-997B-E2BDC5AD02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9085" y="1995055"/>
            <a:ext cx="7411914" cy="2440664"/>
          </a:xfrm>
        </p:spPr>
        <p:txBody>
          <a:bodyPr anchor="b"/>
          <a:lstStyle>
            <a:lvl1pPr>
              <a:buNone/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2280099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5EDA-B9C3-6AF9-EF63-C08D665232E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9085" y="2954215"/>
            <a:ext cx="7921869" cy="1481504"/>
          </a:xfrm>
        </p:spPr>
        <p:txBody>
          <a:bodyPr lIns="0" rIns="0" anchor="b"/>
          <a:lstStyle>
            <a:lvl1pPr algn="l">
              <a:lnSpc>
                <a:spcPct val="80000"/>
              </a:lnSpc>
              <a:defRPr sz="5400" kern="4800" spc="-10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Board of Directors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84A37-4DB4-9760-2B60-8457C4B127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085" y="4580792"/>
            <a:ext cx="4484077" cy="457200"/>
          </a:xfrm>
        </p:spPr>
        <p:txBody>
          <a:bodyPr anchor="b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Q2 2026   |   Dallas, TX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E4EF3A9-5AC1-59AD-AC37-7B280500B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085" y="689732"/>
            <a:ext cx="1834662" cy="36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499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696ED-0232-A0B5-0BBC-72BDE415D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085" y="1336431"/>
            <a:ext cx="6567853" cy="553915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32801A-86F8-CA7E-6FE4-F677371C9018}"/>
              </a:ext>
            </a:extLst>
          </p:cNvPr>
          <p:cNvCxnSpPr>
            <a:cxnSpLocks/>
          </p:cNvCxnSpPr>
          <p:nvPr userDrawn="1"/>
        </p:nvCxnSpPr>
        <p:spPr>
          <a:xfrm>
            <a:off x="589085" y="2057400"/>
            <a:ext cx="99441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CE44468-9379-18A9-F58C-00C329FC53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89085" y="2444273"/>
            <a:ext cx="6567853" cy="3328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697988-7E24-5346-CA36-7364B60FDE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085" y="6521563"/>
            <a:ext cx="913423" cy="1394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2D40AF9-7FEF-8FFE-C3E3-BE6E6C32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8906" y="6515983"/>
            <a:ext cx="373428" cy="1534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E7AA94C7-5BC1-95B0-5DFA-1B67A8F0AF0C}"/>
              </a:ext>
            </a:extLst>
          </p:cNvPr>
          <p:cNvSpPr txBox="1">
            <a:spLocks/>
          </p:cNvSpPr>
          <p:nvPr userDrawn="1"/>
        </p:nvSpPr>
        <p:spPr>
          <a:xfrm>
            <a:off x="5196816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</p:spTree>
    <p:extLst>
      <p:ext uri="{BB962C8B-B14F-4D97-AF65-F5344CB8AC3E}">
        <p14:creationId xmlns:p14="http://schemas.microsoft.com/office/powerpoint/2010/main" val="19860247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0697988-7E24-5346-CA36-7364B60FDE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085" y="6521563"/>
            <a:ext cx="913423" cy="1394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2D40AF9-7FEF-8FFE-C3E3-BE6E6C32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8906" y="6515983"/>
            <a:ext cx="373428" cy="1534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E7AA94C7-5BC1-95B0-5DFA-1B67A8F0AF0C}"/>
              </a:ext>
            </a:extLst>
          </p:cNvPr>
          <p:cNvSpPr txBox="1">
            <a:spLocks/>
          </p:cNvSpPr>
          <p:nvPr userDrawn="1"/>
        </p:nvSpPr>
        <p:spPr>
          <a:xfrm>
            <a:off x="5196816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C5752D8-4209-E66B-D867-5CA72814E88A}"/>
              </a:ext>
            </a:extLst>
          </p:cNvPr>
          <p:cNvSpPr txBox="1">
            <a:spLocks/>
          </p:cNvSpPr>
          <p:nvPr userDrawn="1"/>
        </p:nvSpPr>
        <p:spPr>
          <a:xfrm>
            <a:off x="589085" y="2954215"/>
            <a:ext cx="7921869" cy="1481504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4800" spc="-100" baseline="0">
                <a:solidFill>
                  <a:schemeClr val="bg1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Executive Summary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A394A0E-1FF7-7483-650A-C56AAA5540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085" y="4580792"/>
            <a:ext cx="4484077" cy="457200"/>
          </a:xfrm>
        </p:spPr>
        <p:txBody>
          <a:bodyPr anchor="b" anchorCtr="0"/>
          <a:lstStyle>
            <a:lvl1pPr marL="0" indent="0" algn="l">
              <a:buNone/>
              <a:defRPr sz="2400" baseline="0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31840026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igh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EF89AB-4A3D-57EE-0B97-EA0A1CA222A7}"/>
              </a:ext>
            </a:extLst>
          </p:cNvPr>
          <p:cNvCxnSpPr>
            <a:cxnSpLocks/>
          </p:cNvCxnSpPr>
          <p:nvPr userDrawn="1"/>
        </p:nvCxnSpPr>
        <p:spPr>
          <a:xfrm>
            <a:off x="0" y="6379862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B753D38D-B67F-E8E1-46F1-FF24ABEFFC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085" y="6521563"/>
            <a:ext cx="913423" cy="1394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E15E105-D646-39E9-4CAB-E53CD059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3625" y="6515983"/>
            <a:ext cx="373428" cy="1534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76A4949-537A-F3C3-02F0-801CF3BDD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27386" y="6512814"/>
            <a:ext cx="2789422" cy="153413"/>
          </a:xfrm>
        </p:spPr>
        <p:txBody>
          <a:bodyPr/>
          <a:lstStyle>
            <a:lvl1pPr algn="l">
              <a:defRPr b="0" i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Executive Summary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1F0870D-F2ED-B77A-D581-D81CF8CA73F5}"/>
              </a:ext>
            </a:extLst>
          </p:cNvPr>
          <p:cNvSpPr txBox="1">
            <a:spLocks/>
          </p:cNvSpPr>
          <p:nvPr userDrawn="1"/>
        </p:nvSpPr>
        <p:spPr>
          <a:xfrm>
            <a:off x="5941535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>
                    <a:lumMod val="65000"/>
                  </a:schemeClr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9143AEA-5F7A-9B7E-5CEA-9A18F583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085" y="365126"/>
            <a:ext cx="11007969" cy="89102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EDDB61-D722-5792-6928-51C1E3FCF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85" y="1625600"/>
            <a:ext cx="11007969" cy="455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94235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- Soli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716A41-6C90-29FF-A0AC-C37C0DB7D80C}"/>
              </a:ext>
            </a:extLst>
          </p:cNvPr>
          <p:cNvSpPr/>
          <p:nvPr userDrawn="1"/>
        </p:nvSpPr>
        <p:spPr>
          <a:xfrm>
            <a:off x="0" y="6373092"/>
            <a:ext cx="12192000" cy="4849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696ED-0232-A0B5-0BBC-72BDE415D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085" y="365126"/>
            <a:ext cx="11007969" cy="89102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3AA8-F030-6A0D-846E-785913310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85" y="1625600"/>
            <a:ext cx="11007969" cy="455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753D38D-B67F-E8E1-46F1-FF24ABEFFC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89086" y="6520065"/>
            <a:ext cx="913421" cy="13941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7CC754-D13B-B08F-7681-77A4F64C7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3625" y="6515983"/>
            <a:ext cx="373428" cy="1534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FC1CF77-7B2B-9E42-E886-2B975424B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27386" y="6512814"/>
            <a:ext cx="2789422" cy="153413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Executive Summary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66D41BD7-FB7D-61BE-74EC-58586C59760B}"/>
              </a:ext>
            </a:extLst>
          </p:cNvPr>
          <p:cNvSpPr txBox="1">
            <a:spLocks/>
          </p:cNvSpPr>
          <p:nvPr userDrawn="1"/>
        </p:nvSpPr>
        <p:spPr>
          <a:xfrm>
            <a:off x="5941535" y="6512814"/>
            <a:ext cx="5282090" cy="15341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/>
                </a:solidFill>
                <a:latin typeface="Aptos Light" panose="020B0004020202020204" pitchFamily="34" charset="0"/>
              </a:rPr>
              <a:t>© 2026 Cleartelligence LLC. Confidential: For internal or authorized use only.</a:t>
            </a:r>
          </a:p>
        </p:txBody>
      </p:sp>
    </p:spTree>
    <p:extLst>
      <p:ext uri="{BB962C8B-B14F-4D97-AF65-F5344CB8AC3E}">
        <p14:creationId xmlns:p14="http://schemas.microsoft.com/office/powerpoint/2010/main" val="40671586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E4EF3A9-5AC1-59AD-AC37-7B280500B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085" y="1635214"/>
            <a:ext cx="3801889" cy="760377"/>
          </a:xfrm>
          <a:prstGeom prst="rect">
            <a:avLst/>
          </a:prstGeom>
        </p:spPr>
      </p:pic>
      <p:pic>
        <p:nvPicPr>
          <p:cNvPr id="9" name="Picture 8">
            <a:hlinkClick r:id="rId4"/>
            <a:extLst>
              <a:ext uri="{FF2B5EF4-FFF2-40B4-BE49-F238E27FC236}">
                <a16:creationId xmlns:a16="http://schemas.microsoft.com/office/drawing/2014/main" id="{89D226CF-48EE-4553-30C6-71B3B02539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89085" y="4912783"/>
            <a:ext cx="259195" cy="257866"/>
          </a:xfrm>
          <a:prstGeom prst="rect">
            <a:avLst/>
          </a:prstGeom>
        </p:spPr>
      </p:pic>
      <p:sp>
        <p:nvSpPr>
          <p:cNvPr id="10" name="Subtitle 2">
            <a:hlinkClick r:id="rId6"/>
            <a:extLst>
              <a:ext uri="{FF2B5EF4-FFF2-40B4-BE49-F238E27FC236}">
                <a16:creationId xmlns:a16="http://schemas.microsoft.com/office/drawing/2014/main" id="{2636E653-3052-A5A3-2CE7-4428590BD093}"/>
              </a:ext>
            </a:extLst>
          </p:cNvPr>
          <p:cNvSpPr txBox="1">
            <a:spLocks/>
          </p:cNvSpPr>
          <p:nvPr userDrawn="1"/>
        </p:nvSpPr>
        <p:spPr>
          <a:xfrm>
            <a:off x="1071224" y="4765586"/>
            <a:ext cx="2911497" cy="457200"/>
          </a:xfrm>
          <a:prstGeom prst="rect">
            <a:avLst/>
          </a:prstGeom>
        </p:spPr>
        <p:txBody>
          <a:bodyPr vert="horz" lIns="0" tIns="45720" rIns="0" bIns="45720" rtlCol="0" anchor="b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 baseline="0">
                <a:solidFill>
                  <a:schemeClr val="bg2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|    </a:t>
            </a:r>
            <a:r>
              <a:rPr lang="en-US" err="1">
                <a:solidFill>
                  <a:schemeClr val="bg1"/>
                </a:solidFill>
              </a:rPr>
              <a:t>cleartelligence.com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1740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5EDA-B9C3-6AF9-EF63-C08D66523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84A37-4DB4-9760-2B60-8457C4B12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1530E-8F5E-E37C-33B1-225CFC379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FBC6A-D056-D343-9547-FA573446AD02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1FBE4-1B89-A79A-B437-BE17C4191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3004A-8AFD-DB5C-1FC5-537E9BDB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2926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696ED-0232-A0B5-0BBC-72BDE415D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3AA8-F030-6A0D-846E-785913310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86916-F02F-09CA-C5A7-78FD39B0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D8127-BCFD-9448-827A-F9F05B899F51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C1CA7-2FEA-27DB-D1E9-2AD0D4262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04261-2D13-8528-A32C-374A99DD4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3146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DDF3C-0A1C-8A12-21E3-BC56DC924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B838E-BE85-DAE7-9CCC-C39AF21CF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EBBF3-C524-59E8-329D-E8ED42AA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461D-C3CA-AC4A-BA49-2AF0A2F2B527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34E4C-B658-A4EF-0CC2-7CCAF923B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101B-EC41-5F27-E0D2-DED419B11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962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E2577-EB77-1E08-EC03-486A8B8F7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31841-C048-431B-94FC-BDD85B6933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E15DF-68F4-9803-4D9B-3876B3E48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6DBEC-9F3E-D385-C3FD-732E0A9E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C695-4A29-1145-ADE6-E12958A0AABE}" type="datetime1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D6F37-44D1-516C-A3E8-1FFE966BE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F9FF7-B895-7138-91AE-1BA7E8DB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992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266BD-9326-9678-6E14-DE2B5D330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E15E6-1559-6203-1463-BBB2C489A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805EF-0AC1-8B9F-6CBC-444D4264E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1C543E-6898-8FE2-2864-964581717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3C19FB-5E14-410D-2F2A-1558117DD1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DC029F-50B5-CAA6-F7E6-F2FD26777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08E0-E6FA-3749-9DBB-9662D9404AA0}" type="datetime1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86AE8D-2EA3-ADD9-A4CE-353FEC4AB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D97833-C303-5CB5-7579-39D71A5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8178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F38D6-A0E7-CE14-5908-A44F1E3F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0CA13F-29DA-E21C-DA42-B02678323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92DA-F339-3545-8767-D2686FA16D94}" type="datetime1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49997C-B972-141B-A41D-D1D536ADA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D0386-FAFC-461A-A8B0-2265BBB01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778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56769B-EBE6-2A32-72F2-6CB675B32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64AC-8599-8A43-A292-54AD52FC033C}" type="datetime1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AFA1EB-08FE-DB2A-360D-5951C0BB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30034-CD3D-4B89-2E97-3159312D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0032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6E160-968E-4618-C48D-E403C916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E97CA-2AD9-C799-4831-4628210D6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F6757B-EE28-402E-DA2E-C139307E3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7879B-4AD0-7541-2A4D-D611ADFF1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347D-2C1E-EE48-AC6D-9E0CCB2DDB3D}" type="datetime1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9403F-FB91-0E6F-7770-E38170F9D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53CE3-4192-BBFC-E6FF-6B37FDAA4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1928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02099-D338-3753-6B60-32688754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CDE209-58E0-EEDF-0C2C-A5CE0B899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F581DF-C91A-14D4-2A87-F576C2449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B204F-1E93-DD12-413A-F7E9294E5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CAD2D-160A-874D-AC0A-F295BD97C3B6}" type="datetime1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D0338-B2DB-198E-6459-9D44BA78C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2A9D9-28F6-324D-6EB5-532F0728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55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23D0-1378-6CA6-4FB8-CEEDD4D6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B0141F-EA2C-8EE6-9D27-71612767B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FFB02-8B2B-94C8-492C-EF5834B54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E7E59-A91C-EA4C-B031-1885491D6282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95560-9647-0FAC-371F-D9247773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9BEC8-229C-2B07-27F0-9D39068FC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05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D4E2BE-8EE0-7149-3B9E-D08B1C637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8FC20-3782-C775-D31C-B05FD3D94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40C7E-B409-CBA3-C2E1-97EE33985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C824-9A60-D34C-9EA7-6C8253B75D44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E280E-4708-0C33-3427-D4DEB02A0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65C2B-21BD-64B2-8AA4-9E0B998C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4E4D-3141-5F41-A60D-3FF57E68B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451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theme" Target="../theme/theme2.xml"/><Relationship Id="rId15" Type="http://schemas.openxmlformats.org/officeDocument/2006/relationships/image" Target="../media/image8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3.xml"/><Relationship Id="rId1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FFE1A-DDD9-1EF0-4B6B-E094C1C7D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0062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4A344-FCB6-BAB1-3566-C06B98DAA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25625"/>
            <a:ext cx="10972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794E2-994E-8F25-3E66-769ED4E44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500" y="6356350"/>
            <a:ext cx="5339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© 2026 Cleartelligence. Confidential – For internal or authorized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741F8-8314-E73E-7D1F-66E946343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47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1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39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62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>
          <a:solidFill>
            <a:srgbClr val="182D5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10C1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10C1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10C1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0C1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0C1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pos="960">
          <p15:clr>
            <a:srgbClr val="F26B43"/>
          </p15:clr>
        </p15:guide>
        <p15:guide id="5" pos="1536">
          <p15:clr>
            <a:srgbClr val="F26B43"/>
          </p15:clr>
        </p15:guide>
        <p15:guide id="6" pos="2112">
          <p15:clr>
            <a:srgbClr val="F26B43"/>
          </p15:clr>
        </p15:guide>
        <p15:guide id="7" pos="2688">
          <p15:clr>
            <a:srgbClr val="F26B43"/>
          </p15:clr>
        </p15:guide>
        <p15:guide id="8" pos="3264">
          <p15:clr>
            <a:srgbClr val="F26B43"/>
          </p15:clr>
        </p15:guide>
        <p15:guide id="9" pos="4416">
          <p15:clr>
            <a:srgbClr val="F26B43"/>
          </p15:clr>
        </p15:guide>
        <p15:guide id="10" pos="4992">
          <p15:clr>
            <a:srgbClr val="F26B43"/>
          </p15:clr>
        </p15:guide>
        <p15:guide id="11" pos="5568">
          <p15:clr>
            <a:srgbClr val="F26B43"/>
          </p15:clr>
        </p15:guide>
        <p15:guide id="12" pos="6144">
          <p15:clr>
            <a:srgbClr val="F26B43"/>
          </p15:clr>
        </p15:guide>
        <p15:guide id="13" pos="6720">
          <p15:clr>
            <a:srgbClr val="F26B43"/>
          </p15:clr>
        </p15:guide>
        <p15:guide id="14" pos="729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FFE1A-DDD9-1EF0-4B6B-E094C1C7D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0062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4A344-FCB6-BAB1-3566-C06B98DAA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25625"/>
            <a:ext cx="10972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794E2-994E-8F25-3E66-769ED4E44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500" y="6356350"/>
            <a:ext cx="5339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© 2026 Cleartelligence. Confidential – For internal or authorized use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741F8-8314-E73E-7D1F-66E946343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47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A5EF317-A37A-8347-BE9C-E40E8D6CECD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5F5B5A9-0850-8A64-6099-0B3946CE458A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1347554" y="402481"/>
            <a:ext cx="378106" cy="37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54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59" r:id="rId11"/>
    <p:sldLayoutId id="2147483760" r:id="rId12"/>
    <p:sldLayoutId id="214748376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>
          <a:solidFill>
            <a:srgbClr val="182D5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10C1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10C1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10C1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0C1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0C1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pos="960">
          <p15:clr>
            <a:srgbClr val="F26B43"/>
          </p15:clr>
        </p15:guide>
        <p15:guide id="5" pos="1536">
          <p15:clr>
            <a:srgbClr val="F26B43"/>
          </p15:clr>
        </p15:guide>
        <p15:guide id="6" pos="2112">
          <p15:clr>
            <a:srgbClr val="F26B43"/>
          </p15:clr>
        </p15:guide>
        <p15:guide id="7" pos="2688">
          <p15:clr>
            <a:srgbClr val="F26B43"/>
          </p15:clr>
        </p15:guide>
        <p15:guide id="8" pos="3264">
          <p15:clr>
            <a:srgbClr val="F26B43"/>
          </p15:clr>
        </p15:guide>
        <p15:guide id="9" pos="4416">
          <p15:clr>
            <a:srgbClr val="F26B43"/>
          </p15:clr>
        </p15:guide>
        <p15:guide id="10" pos="4992">
          <p15:clr>
            <a:srgbClr val="F26B43"/>
          </p15:clr>
        </p15:guide>
        <p15:guide id="11" pos="5568">
          <p15:clr>
            <a:srgbClr val="F26B43"/>
          </p15:clr>
        </p15:guide>
        <p15:guide id="12" pos="6144">
          <p15:clr>
            <a:srgbClr val="F26B43"/>
          </p15:clr>
        </p15:guide>
        <p15:guide id="13" pos="6720">
          <p15:clr>
            <a:srgbClr val="F26B43"/>
          </p15:clr>
        </p15:guide>
        <p15:guide id="14" pos="729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B3A438-740C-4559-DBF2-9809A2CA8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085" y="365125"/>
            <a:ext cx="11007969" cy="132556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8EADB-149D-A09C-2255-D47C8CD8C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085" y="1825625"/>
            <a:ext cx="11007969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02F51-6B7B-1EB5-1C6A-02893FB469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9085" y="6576645"/>
            <a:ext cx="2743200" cy="14482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E892831B-3CE0-6847-A1D2-3211928A6EEB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BCB81-0160-CB64-5EB1-C8F60C0E54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6645"/>
            <a:ext cx="4114800" cy="14482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Executive 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FF987-2242-0BFF-BEA9-9173C2EF3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53854" y="6576645"/>
            <a:ext cx="2743200" cy="14482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DD8E4E4D-3141-5F41-A60D-3FF57E68B4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0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  <p:sldLayoutId id="2147483758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Aptos Light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1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3" Type="http://schemas.microsoft.com/office/2018/10/relationships/comments" Target="../comments/modernComment_7FFFC831_6B77630A.xml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31.png"/><Relationship Id="rId16" Type="http://schemas.openxmlformats.org/officeDocument/2006/relationships/image" Target="../media/image32.png"/><Relationship Id="rId17" Type="http://schemas.openxmlformats.org/officeDocument/2006/relationships/image" Target="../media/image33.svg"/><Relationship Id="rId18" Type="http://schemas.openxmlformats.org/officeDocument/2006/relationships/image" Target="../media/image34.png"/><Relationship Id="rId19" Type="http://schemas.openxmlformats.org/officeDocument/2006/relationships/image" Target="../media/image35.svg"/><Relationship Id="rId20" Type="http://schemas.openxmlformats.org/officeDocument/2006/relationships/image" Target="../media/image36.svg"/><Relationship Id="rId21" Type="http://schemas.openxmlformats.org/officeDocument/2006/relationships/image" Target="../media/image37.svg"/><Relationship Id="rId22" Type="http://schemas.openxmlformats.org/officeDocument/2006/relationships/image" Target="../media/image38.png"/><Relationship Id="rId23" Type="http://schemas.openxmlformats.org/officeDocument/2006/relationships/image" Target="../media/image39.svg"/><Relationship Id="rId24" Type="http://schemas.openxmlformats.org/officeDocument/2006/relationships/image" Target="../media/image40.svg"/><Relationship Id="rId25" Type="http://schemas.openxmlformats.org/officeDocument/2006/relationships/image" Target="../media/image41.png"/><Relationship Id="rId26" Type="http://schemas.openxmlformats.org/officeDocument/2006/relationships/image" Target="../media/image42.png"/><Relationship Id="rId27" Type="http://schemas.openxmlformats.org/officeDocument/2006/relationships/image" Target="../media/image4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microsoft.com/office/2018/10/relationships/comments" Target="../comments/modernComment_7FFFC84C_F751FBD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3.xml"/><Relationship Id="rId3" Type="http://schemas.microsoft.com/office/2018/10/relationships/comments" Target="../comments/modernComment_7FFFC8C3_FD15708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33E791-9FDF-16C8-FDC7-5F8649A72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D7DA9F-1E79-14D7-DC23-DAFDD8D7E6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65482" y="5460403"/>
            <a:ext cx="7587141" cy="410876"/>
          </a:xfrm>
        </p:spPr>
        <p:txBody>
          <a:bodyPr>
            <a:normAutofit/>
          </a:bodyPr>
          <a:lstStyle/>
          <a:p>
            <a:r>
              <a:rPr lang="en-US" sz="2000" spc="-50">
                <a:solidFill>
                  <a:schemeClr val="tx2">
                    <a:lumMod val="10000"/>
                    <a:lumOff val="90000"/>
                  </a:schemeClr>
                </a:solidFill>
              </a:rPr>
              <a:t>When you trust your data, </a:t>
            </a:r>
            <a:r>
              <a:rPr lang="en-US" sz="2000" spc="-50">
                <a:solidFill>
                  <a:srgbClr val="EC8E2F"/>
                </a:solidFill>
              </a:rPr>
              <a:t>everything</a:t>
            </a:r>
            <a:r>
              <a:rPr lang="en-US" sz="2000" spc="-50"/>
              <a:t> </a:t>
            </a:r>
            <a:r>
              <a:rPr lang="en-US" sz="2000" spc="-50">
                <a:solidFill>
                  <a:schemeClr val="tx2">
                    <a:lumMod val="10000"/>
                    <a:lumOff val="90000"/>
                  </a:schemeClr>
                </a:solidFill>
              </a:rPr>
              <a:t>is possible.​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1910D-2043-2D43-C54E-3309A4E75D0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65482" y="3070997"/>
            <a:ext cx="9165743" cy="983645"/>
          </a:xfrm>
        </p:spPr>
        <p:txBody>
          <a:bodyPr vert="horz" lIns="182880" tIns="45720" rIns="91440" bIns="45720"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en-US" sz="4400" spc="0">
                <a:solidFill>
                  <a:schemeClr val="bg1"/>
                </a:solidFill>
                <a:latin typeface="Aptos Display" panose="020B0004020202020204" pitchFamily="34" charset="0"/>
                <a:ea typeface="+mn-lt"/>
                <a:cs typeface="+mn-lt"/>
              </a:rPr>
              <a:t>Finance Forecasting  &amp; Work Session</a:t>
            </a:r>
          </a:p>
          <a:p>
            <a:pPr>
              <a:lnSpc>
                <a:spcPct val="80000"/>
              </a:lnSpc>
            </a:pPr>
            <a:endParaRPr lang="en-US" sz="580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AF8B97-5210-0434-1F4F-00C48DC84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750" y="1756470"/>
            <a:ext cx="3209550" cy="6477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AEB80A-BC98-A0CE-D6BD-610EB2698A70}"/>
              </a:ext>
            </a:extLst>
          </p:cNvPr>
          <p:cNvSpPr txBox="1"/>
          <p:nvPr/>
        </p:nvSpPr>
        <p:spPr>
          <a:xfrm>
            <a:off x="1032750" y="3791407"/>
            <a:ext cx="2500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>
                    <a:lumMod val="75000"/>
                  </a:prstClr>
                </a:solidFill>
                <a:latin typeface="Aptos" panose="02110004020202020204"/>
              </a:rPr>
              <a:t>August 10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2026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6BCC300-00BA-617A-1398-53FCACDD34C5}"/>
              </a:ext>
            </a:extLst>
          </p:cNvPr>
          <p:cNvSpPr txBox="1">
            <a:spLocks/>
          </p:cNvSpPr>
          <p:nvPr/>
        </p:nvSpPr>
        <p:spPr>
          <a:xfrm>
            <a:off x="10272297" y="5044848"/>
            <a:ext cx="1419979" cy="272219"/>
          </a:xfrm>
          <a:prstGeom prst="rect">
            <a:avLst/>
          </a:prstGeom>
        </p:spPr>
        <p:txBody>
          <a:bodyPr vert="horz" lIns="18288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600" b="0" kern="1200" spc="-300">
                <a:solidFill>
                  <a:srgbClr val="182D5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  <a:t>Prepared for</a:t>
            </a:r>
          </a:p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lt"/>
              <a:cs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EA95B5-D503-0886-0F33-6DED9CCF4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669" y="5309691"/>
            <a:ext cx="1556760" cy="55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22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9AF3F-7A3B-00BA-88EA-DF43411F2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F78D-9583-3D81-DF07-4F0D681CD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chemeClr val="tx1"/>
                </a:solidFill>
                <a:latin typeface="Aptos Light" panose="020B0004020202020204" pitchFamily="34" charset="0"/>
              </a:rPr>
              <a:t>Agenda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6C2B39-8B80-8516-60FB-55029F23A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EF317-A37A-8347-BE9C-E40E8D6CEC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72714B-DC37-0727-D733-3BDC50C62A86}"/>
              </a:ext>
            </a:extLst>
          </p:cNvPr>
          <p:cNvSpPr txBox="1"/>
          <p:nvPr/>
        </p:nvSpPr>
        <p:spPr>
          <a:xfrm>
            <a:off x="589085" y="2609685"/>
            <a:ext cx="6972080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3E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Light"/>
                <a:ea typeface="+mn-ea"/>
                <a:cs typeface="+mn-cs"/>
              </a:rPr>
              <a:t>Finance Domain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3E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  <a:p>
            <a:pPr marL="285750" indent="-285750">
              <a:buClr>
                <a:srgbClr val="4063E0"/>
              </a:buClr>
              <a:buFont typeface="Arial" panose="020B0604020202020204" pitchFamily="34" charset="0"/>
              <a:buChar char="•"/>
            </a:pPr>
            <a:r>
              <a:rPr lang="en-US">
                <a:latin typeface="Aptos Light" panose="020B0004020202020204" pitchFamily="34" charset="0"/>
              </a:rPr>
              <a:t>HBP Current State: Objectives, Use-Cases, Insights</a:t>
            </a:r>
          </a:p>
          <a:p>
            <a:pPr marL="285750" indent="-285750">
              <a:buClr>
                <a:srgbClr val="4063E0"/>
              </a:buClr>
              <a:buFont typeface="Arial" panose="020B0604020202020204" pitchFamily="34" charset="0"/>
              <a:buChar char="•"/>
            </a:pPr>
            <a:endParaRPr lang="en-US">
              <a:latin typeface="Aptos Light" panose="020B0004020202020204" pitchFamily="34" charset="0"/>
            </a:endParaRPr>
          </a:p>
          <a:p>
            <a:pPr marL="285750" indent="-285750">
              <a:buClr>
                <a:srgbClr val="4063E0"/>
              </a:buClr>
              <a:buFont typeface="Arial" panose="020B0604020202020204" pitchFamily="34" charset="0"/>
              <a:buChar char="•"/>
            </a:pPr>
            <a:r>
              <a:rPr lang="en-US">
                <a:latin typeface="Aptos Light"/>
              </a:rPr>
              <a:t>Best Practices: Forecasting &amp; Scenario Planning</a:t>
            </a:r>
          </a:p>
          <a:p>
            <a:pPr marL="285750" indent="-285750">
              <a:buClr>
                <a:srgbClr val="4063E0"/>
              </a:buClr>
              <a:buFont typeface="Arial" panose="020B0604020202020204" pitchFamily="34" charset="0"/>
              <a:buChar char="•"/>
            </a:pPr>
            <a:endParaRPr lang="en-US">
              <a:latin typeface="Aptos Light"/>
            </a:endParaRPr>
          </a:p>
          <a:p>
            <a:pPr marL="285750" indent="-285750">
              <a:buClr>
                <a:srgbClr val="4063E0"/>
              </a:buClr>
              <a:buFont typeface="Arial" panose="020B0604020202020204" pitchFamily="34" charset="0"/>
              <a:buChar char="•"/>
            </a:pPr>
            <a:r>
              <a:rPr lang="en-US">
                <a:latin typeface="Aptos Light"/>
              </a:rPr>
              <a:t>Priorities &amp; Next Steps</a:t>
            </a:r>
            <a:endParaRPr lang="en-US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9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347382-1274-C276-6254-9E3EC1AE8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8906" y="6515983"/>
            <a:ext cx="373428" cy="15341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8E4E4D-3141-5F41-A60D-3FF57E68B415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D378E0-FF33-90AF-B3B3-D8DA3A21C4A7}"/>
              </a:ext>
            </a:extLst>
          </p:cNvPr>
          <p:cNvSpPr txBox="1"/>
          <p:nvPr/>
        </p:nvSpPr>
        <p:spPr>
          <a:xfrm>
            <a:off x="459547" y="2841171"/>
            <a:ext cx="603139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>
                <a:solidFill>
                  <a:schemeClr val="bg1"/>
                </a:solidFill>
                <a:latin typeface="Aptos Light" panose="020B0004020202020204" pitchFamily="34" charset="0"/>
              </a:rPr>
              <a:t>Cleartelligence in </a:t>
            </a:r>
            <a:br>
              <a:rPr lang="en-US" sz="5400">
                <a:solidFill>
                  <a:schemeClr val="bg1"/>
                </a:solidFill>
                <a:latin typeface="Aptos Light" panose="020B0004020202020204" pitchFamily="34" charset="0"/>
              </a:rPr>
            </a:br>
            <a:r>
              <a:rPr lang="en-US" sz="5400">
                <a:solidFill>
                  <a:schemeClr val="bg1"/>
                </a:solidFill>
                <a:latin typeface="Aptos Light" panose="020B0004020202020204" pitchFamily="34" charset="0"/>
              </a:rPr>
              <a:t>the Finance Domain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D6DC3E-C0EF-C981-5060-915EDE07ED52}"/>
              </a:ext>
            </a:extLst>
          </p:cNvPr>
          <p:cNvSpPr txBox="1"/>
          <p:nvPr/>
        </p:nvSpPr>
        <p:spPr>
          <a:xfrm>
            <a:off x="6401964" y="-534068"/>
            <a:ext cx="4263656" cy="369332"/>
          </a:xfrm>
          <a:prstGeom prst="rect">
            <a:avLst/>
          </a:prstGeom>
          <a:solidFill>
            <a:srgbClr val="A02B93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10 minutes</a:t>
            </a:r>
          </a:p>
        </p:txBody>
      </p:sp>
    </p:spTree>
    <p:extLst>
      <p:ext uri="{BB962C8B-B14F-4D97-AF65-F5344CB8AC3E}">
        <p14:creationId xmlns:p14="http://schemas.microsoft.com/office/powerpoint/2010/main" val="58011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ACF2F-33E6-367D-6861-7BB676F5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8E4E4D-3141-5F41-A60D-3FF57E68B415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B6CE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4B6CE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59C11-3F0E-281F-9DCB-302359B5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B6CE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Finance Domain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9F727FA-7A8C-F07B-250A-C2EA87C3875A}"/>
              </a:ext>
            </a:extLst>
          </p:cNvPr>
          <p:cNvSpPr txBox="1">
            <a:spLocks/>
          </p:cNvSpPr>
          <p:nvPr/>
        </p:nvSpPr>
        <p:spPr>
          <a:xfrm>
            <a:off x="589085" y="365126"/>
            <a:ext cx="11007969" cy="89102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baseline="0">
                <a:solidFill>
                  <a:schemeClr val="tx1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 panose="020B0004020202020204" pitchFamily="34" charset="0"/>
                <a:ea typeface="+mj-ea"/>
                <a:cs typeface="+mj-cs"/>
              </a:rPr>
              <a:t>We bring Finance domain expertise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3DC5EA-1D51-BB6E-5887-5FC653B1298D}"/>
              </a:ext>
            </a:extLst>
          </p:cNvPr>
          <p:cNvSpPr/>
          <p:nvPr/>
        </p:nvSpPr>
        <p:spPr>
          <a:xfrm>
            <a:off x="-3105" y="3438683"/>
            <a:ext cx="12192000" cy="2895388"/>
          </a:xfrm>
          <a:prstGeom prst="rect">
            <a:avLst/>
          </a:prstGeom>
          <a:solidFill>
            <a:srgbClr val="EEF0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6D9331-65FF-D83B-68C2-C956A4A4848B}"/>
              </a:ext>
            </a:extLst>
          </p:cNvPr>
          <p:cNvSpPr txBox="1">
            <a:spLocks/>
          </p:cNvSpPr>
          <p:nvPr/>
        </p:nvSpPr>
        <p:spPr>
          <a:xfrm>
            <a:off x="6526795" y="3652882"/>
            <a:ext cx="1635185" cy="26881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sz="1400" b="1">
                <a:solidFill>
                  <a:schemeClr val="tx1"/>
                </a:solidFill>
                <a:latin typeface="Aptos" panose="020B0004020202020204" pitchFamily="34" charset="0"/>
              </a:rPr>
              <a:t>Platform depth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17D76F-0E74-0062-3495-17F123DE6F29}"/>
              </a:ext>
            </a:extLst>
          </p:cNvPr>
          <p:cNvSpPr txBox="1"/>
          <p:nvPr/>
        </p:nvSpPr>
        <p:spPr>
          <a:xfrm>
            <a:off x="745475" y="1931056"/>
            <a:ext cx="85632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chemeClr val="tx2"/>
                </a:solidFill>
                <a:latin typeface="Aptos" panose="020B0004020202020204" pitchFamily="34" charset="0"/>
              </a:rPr>
              <a:t>12</a:t>
            </a:r>
          </a:p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Year History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6444D9-8E43-9635-B92E-B4C858D189A5}"/>
              </a:ext>
            </a:extLst>
          </p:cNvPr>
          <p:cNvSpPr txBox="1"/>
          <p:nvPr/>
        </p:nvSpPr>
        <p:spPr>
          <a:xfrm>
            <a:off x="2182967" y="1931056"/>
            <a:ext cx="128112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chemeClr val="tx2"/>
                </a:solidFill>
                <a:latin typeface="Aptos" panose="020B0004020202020204" pitchFamily="34" charset="0"/>
              </a:rPr>
              <a:t>200+</a:t>
            </a:r>
          </a:p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Finance-specific </a:t>
            </a:r>
            <a:b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engagements</a:t>
            </a:r>
            <a:b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since 2024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B8D4D9-D921-BEF2-BC3B-EB777EABE2B1}"/>
              </a:ext>
            </a:extLst>
          </p:cNvPr>
          <p:cNvSpPr txBox="1"/>
          <p:nvPr/>
        </p:nvSpPr>
        <p:spPr>
          <a:xfrm>
            <a:off x="3851801" y="1931056"/>
            <a:ext cx="12747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chemeClr val="tx2"/>
                </a:solidFill>
                <a:latin typeface="Aptos" panose="020B0004020202020204" pitchFamily="34" charset="0"/>
              </a:rPr>
              <a:t>86</a:t>
            </a:r>
            <a:r>
              <a:rPr lang="en-US" sz="2000" b="1">
                <a:solidFill>
                  <a:schemeClr val="tx2"/>
                </a:solidFill>
                <a:latin typeface="Aptos" panose="020B0004020202020204" pitchFamily="34" charset="0"/>
              </a:rPr>
              <a:t>/100</a:t>
            </a:r>
          </a:p>
          <a:p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Net Promoter Score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E17230B-0534-B505-4212-65932E3C63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020" y="4772288"/>
            <a:ext cx="1283647" cy="2034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BD74A04-2A57-36B5-0D3C-639D534E88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020" y="4200125"/>
            <a:ext cx="1325561" cy="31689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5E223AE-C582-3DAE-1F8E-4EBEBA72E5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776" y="4221411"/>
            <a:ext cx="1304873" cy="2743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C0C31A6-7BAB-1086-0FAE-4E3C7C3E05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797" y="4759959"/>
            <a:ext cx="814630" cy="2280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9EF1259-DDC5-D5C9-9A76-D25AF24360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170" y="4288788"/>
            <a:ext cx="1240581" cy="13956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CD82E37-3EBB-8D2E-8A8E-9071E311B1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901" y="5271021"/>
            <a:ext cx="603772" cy="33542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93ED612-A5EC-E1F9-9C31-99ED0D95DF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170" y="5327997"/>
            <a:ext cx="814630" cy="2214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E5A4A34-E5C6-7C19-F938-C249747E93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170" y="5861687"/>
            <a:ext cx="731520" cy="26974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1784626-68DC-7F7A-0EDD-083EDDF68D3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27794" b="37944"/>
          <a:stretch>
            <a:fillRect/>
          </a:stretch>
        </p:blipFill>
        <p:spPr>
          <a:xfrm>
            <a:off x="6650020" y="5337644"/>
            <a:ext cx="1393909" cy="20218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FA8EEA0-392C-EFF6-886B-18E72812440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182" t="20992" r="1387" b="19703"/>
          <a:stretch>
            <a:fillRect/>
          </a:stretch>
        </p:blipFill>
        <p:spPr>
          <a:xfrm>
            <a:off x="6650020" y="5796785"/>
            <a:ext cx="1156700" cy="399553"/>
          </a:xfrm>
          <a:prstGeom prst="rect">
            <a:avLst/>
          </a:prstGeom>
        </p:spPr>
      </p:pic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460CE6BB-061E-70A4-0BE4-12BDFB0DBAE3}"/>
              </a:ext>
            </a:extLst>
          </p:cNvPr>
          <p:cNvSpPr txBox="1">
            <a:spLocks/>
          </p:cNvSpPr>
          <p:nvPr/>
        </p:nvSpPr>
        <p:spPr>
          <a:xfrm>
            <a:off x="6478670" y="2052988"/>
            <a:ext cx="2509511" cy="268817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sz="1400" b="1">
                <a:latin typeface="Aptos" panose="020B0004020202020204" pitchFamily="34" charset="0"/>
              </a:rPr>
              <a:t>Delivery framework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F64959D-F39F-E034-49E7-4D788CC4963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73" y="4258022"/>
            <a:ext cx="897930" cy="20109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4B3C505-BF20-D5CA-ED04-8062D3A6306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73" y="4799331"/>
            <a:ext cx="1280160" cy="14935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995E6E4-D01B-5D48-7076-C05B3571BA2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73" y="5237851"/>
            <a:ext cx="409446" cy="401769"/>
          </a:xfrm>
          <a:prstGeom prst="rect">
            <a:avLst/>
          </a:prstGeom>
        </p:spPr>
      </p:pic>
      <p:pic>
        <p:nvPicPr>
          <p:cNvPr id="34" name="Graphic 33" descr="Tokyo Century Corporation">
            <a:extLst>
              <a:ext uri="{FF2B5EF4-FFF2-40B4-BE49-F238E27FC236}">
                <a16:creationId xmlns:a16="http://schemas.microsoft.com/office/drawing/2014/main" id="{8786DC6A-3DDA-6003-F5BB-2C55BA4BDE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0073" y="5836432"/>
            <a:ext cx="1492172" cy="32025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0917BF2-24C6-6DD4-38AD-D72F9DD2D4E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981" y="4235590"/>
            <a:ext cx="713364" cy="245962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0562AEF3-A089-7C36-653F-24500B2FF0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92981" y="4703800"/>
            <a:ext cx="1156700" cy="340415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870BE4BC-2439-0DB0-EABA-2EC6B45B40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692981" y="5346511"/>
            <a:ext cx="737795" cy="184449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92F8C0E4-3987-8C4E-3B6C-0C776CA943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692981" y="5907169"/>
            <a:ext cx="1066083" cy="17878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136E707-5401-4815-6A11-2FB07BC8C04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21739" y="4747098"/>
            <a:ext cx="944203" cy="253818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BABA72AF-297B-3BE5-296E-73899A45FE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356257" y="5275366"/>
            <a:ext cx="1240581" cy="326738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855253A-DF6D-8D90-B43F-972BF8747E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321739" y="5888446"/>
            <a:ext cx="833582" cy="21623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5A3D028-003A-487F-80CB-532847BB99C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21739" y="4225734"/>
            <a:ext cx="1017793" cy="26567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1505752-1FA1-6871-FF12-FC256C68F60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5157" y="5851070"/>
            <a:ext cx="1097280" cy="290983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A1F79E25-E53F-4FA6-E791-529C2AD2E7C2}"/>
              </a:ext>
            </a:extLst>
          </p:cNvPr>
          <p:cNvSpPr/>
          <p:nvPr/>
        </p:nvSpPr>
        <p:spPr>
          <a:xfrm>
            <a:off x="6023786" y="3416848"/>
            <a:ext cx="36576" cy="2926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8B502A3-A9FC-8019-52CB-79C37C9BE286}"/>
              </a:ext>
            </a:extLst>
          </p:cNvPr>
          <p:cNvSpPr/>
          <p:nvPr/>
        </p:nvSpPr>
        <p:spPr>
          <a:xfrm>
            <a:off x="6478669" y="2515315"/>
            <a:ext cx="4572000" cy="7315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90F1707-9297-4F0A-4113-CCCF4BFEFFA7}"/>
              </a:ext>
            </a:extLst>
          </p:cNvPr>
          <p:cNvSpPr>
            <a:spLocks noChangeAspect="1"/>
          </p:cNvSpPr>
          <p:nvPr/>
        </p:nvSpPr>
        <p:spPr>
          <a:xfrm>
            <a:off x="6553157" y="2460451"/>
            <a:ext cx="182880" cy="182880"/>
          </a:xfrm>
          <a:prstGeom prst="ellipse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560840B-ECF4-D108-F445-DD1E71AF1D42}"/>
              </a:ext>
            </a:extLst>
          </p:cNvPr>
          <p:cNvSpPr>
            <a:spLocks noChangeAspect="1"/>
          </p:cNvSpPr>
          <p:nvPr/>
        </p:nvSpPr>
        <p:spPr>
          <a:xfrm>
            <a:off x="10669337" y="2460451"/>
            <a:ext cx="182880" cy="182880"/>
          </a:xfrm>
          <a:prstGeom prst="ellipse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485F37C-DB1B-50D8-5E2A-24A8E9F410D3}"/>
              </a:ext>
            </a:extLst>
          </p:cNvPr>
          <p:cNvSpPr>
            <a:spLocks noChangeAspect="1"/>
          </p:cNvSpPr>
          <p:nvPr/>
        </p:nvSpPr>
        <p:spPr>
          <a:xfrm>
            <a:off x="7925217" y="2460451"/>
            <a:ext cx="182880" cy="182880"/>
          </a:xfrm>
          <a:prstGeom prst="ellipse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4C38B65-4075-9F1F-F92F-7D17B643BFCC}"/>
              </a:ext>
            </a:extLst>
          </p:cNvPr>
          <p:cNvSpPr>
            <a:spLocks noChangeAspect="1"/>
          </p:cNvSpPr>
          <p:nvPr/>
        </p:nvSpPr>
        <p:spPr>
          <a:xfrm>
            <a:off x="9297277" y="2460451"/>
            <a:ext cx="182880" cy="182880"/>
          </a:xfrm>
          <a:prstGeom prst="ellipse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35056D-6C92-BF17-92A3-A4F0AD22ED0F}"/>
              </a:ext>
            </a:extLst>
          </p:cNvPr>
          <p:cNvSpPr txBox="1"/>
          <p:nvPr/>
        </p:nvSpPr>
        <p:spPr>
          <a:xfrm>
            <a:off x="6500326" y="2651312"/>
            <a:ext cx="12875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Aptos Light" panose="020B0004020202020204" pitchFamily="34" charset="0"/>
              </a:rPr>
              <a:t>Plan transformation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CC9BF0-85DD-496F-239D-B0E5D127EC0E}"/>
              </a:ext>
            </a:extLst>
          </p:cNvPr>
          <p:cNvSpPr txBox="1"/>
          <p:nvPr/>
        </p:nvSpPr>
        <p:spPr>
          <a:xfrm>
            <a:off x="7876092" y="2658376"/>
            <a:ext cx="1130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Aptos Light" panose="020B0004020202020204" pitchFamily="34" charset="0"/>
              </a:rPr>
              <a:t>Build Foundation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F036AF-6CBC-A1E7-A289-1CCAE6EA7AC5}"/>
              </a:ext>
            </a:extLst>
          </p:cNvPr>
          <p:cNvSpPr txBox="1"/>
          <p:nvPr/>
        </p:nvSpPr>
        <p:spPr>
          <a:xfrm>
            <a:off x="9231140" y="2641909"/>
            <a:ext cx="13067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Aptos Light" panose="020B0004020202020204" pitchFamily="34" charset="0"/>
              </a:rPr>
              <a:t>Activate Intelligence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A60AE04-40AB-BD15-01F0-A3851BE6CE1A}"/>
              </a:ext>
            </a:extLst>
          </p:cNvPr>
          <p:cNvSpPr txBox="1"/>
          <p:nvPr/>
        </p:nvSpPr>
        <p:spPr>
          <a:xfrm>
            <a:off x="10603200" y="2634326"/>
            <a:ext cx="12747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Aptos Light" panose="020B0004020202020204" pitchFamily="34" charset="0"/>
              </a:rPr>
              <a:t>Operate &amp; Optimize</a:t>
            </a: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314D2BEC-F7C1-5076-7799-77197DAA0DD6}"/>
              </a:ext>
            </a:extLst>
          </p:cNvPr>
          <p:cNvSpPr txBox="1">
            <a:spLocks/>
          </p:cNvSpPr>
          <p:nvPr/>
        </p:nvSpPr>
        <p:spPr>
          <a:xfrm>
            <a:off x="589086" y="1174018"/>
            <a:ext cx="10127040" cy="34969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baseline="0">
                <a:solidFill>
                  <a:schemeClr val="tx1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</a:rPr>
              <a:t>We are vertically focused on Financial Services and the Domain of the CFO.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050BA2A1-4D80-E264-9E49-87795316B887}"/>
              </a:ext>
            </a:extLst>
          </p:cNvPr>
          <p:cNvSpPr txBox="1">
            <a:spLocks/>
          </p:cNvSpPr>
          <p:nvPr/>
        </p:nvSpPr>
        <p:spPr>
          <a:xfrm>
            <a:off x="745475" y="3652882"/>
            <a:ext cx="3135203" cy="2688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10C1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sz="1400" b="1">
                <a:solidFill>
                  <a:schemeClr val="tx1"/>
                </a:solidFill>
                <a:latin typeface="Aptos" panose="020B0004020202020204" pitchFamily="34" charset="0"/>
              </a:rPr>
              <a:t>Finance domain engagements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9DC94A9-0F51-89ED-0E8E-BC1B7BC093EB}"/>
              </a:ext>
            </a:extLst>
          </p:cNvPr>
          <p:cNvCxnSpPr>
            <a:cxnSpLocks/>
          </p:cNvCxnSpPr>
          <p:nvPr/>
        </p:nvCxnSpPr>
        <p:spPr>
          <a:xfrm>
            <a:off x="6624620" y="3915885"/>
            <a:ext cx="4245957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7044DB9-2C81-B6A2-C6E6-651FC6B62C40}"/>
              </a:ext>
            </a:extLst>
          </p:cNvPr>
          <p:cNvCxnSpPr>
            <a:cxnSpLocks/>
          </p:cNvCxnSpPr>
          <p:nvPr/>
        </p:nvCxnSpPr>
        <p:spPr>
          <a:xfrm>
            <a:off x="847075" y="3915885"/>
            <a:ext cx="4245957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D49CE52-7157-A5ED-F414-16149FFF952B}"/>
              </a:ext>
            </a:extLst>
          </p:cNvPr>
          <p:cNvSpPr txBox="1"/>
          <p:nvPr/>
        </p:nvSpPr>
        <p:spPr>
          <a:xfrm>
            <a:off x="6899374" y="3961663"/>
            <a:ext cx="8290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Aptos Light" panose="020B0004020202020204" pitchFamily="34" charset="0"/>
              </a:rPr>
              <a:t>Data platforms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5A9ECE2-1229-7055-E902-3A58A9939296}"/>
              </a:ext>
            </a:extLst>
          </p:cNvPr>
          <p:cNvSpPr txBox="1"/>
          <p:nvPr/>
        </p:nvSpPr>
        <p:spPr>
          <a:xfrm>
            <a:off x="8753791" y="3958684"/>
            <a:ext cx="5261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Aptos Light" panose="020B0004020202020204" pitchFamily="34" charset="0"/>
              </a:rPr>
              <a:t>BI Tools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A81F74-2BA1-29C4-8620-9B2EE7E698CE}"/>
              </a:ext>
            </a:extLst>
          </p:cNvPr>
          <p:cNvSpPr txBox="1"/>
          <p:nvPr/>
        </p:nvSpPr>
        <p:spPr>
          <a:xfrm>
            <a:off x="10304181" y="3955854"/>
            <a:ext cx="4154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Aptos Light" panose="020B0004020202020204" pitchFamily="34" charset="0"/>
              </a:rPr>
              <a:t>LLMs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9E89DD-2E8B-B286-E724-88FB9E03AAD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50170" y="4611577"/>
            <a:ext cx="937251" cy="52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862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E2916-6FC9-30A1-9897-68B4DC26C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9CBCB-A872-F6D6-6CED-3D3902FE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8E4E4D-3141-5F41-A60D-3FF57E68B415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B6CE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4B6CE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1E897-2D31-783F-6747-80E4F8190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B6CE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Goals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7135356-E033-F3AE-4443-C61C89FACBF6}"/>
              </a:ext>
            </a:extLst>
          </p:cNvPr>
          <p:cNvSpPr txBox="1">
            <a:spLocks/>
          </p:cNvSpPr>
          <p:nvPr/>
        </p:nvSpPr>
        <p:spPr>
          <a:xfrm>
            <a:off x="589085" y="365126"/>
            <a:ext cx="11007969" cy="89102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baseline="0">
                <a:solidFill>
                  <a:schemeClr val="tx1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000000"/>
                </a:solidFill>
              </a:rPr>
              <a:t>Goals and Current State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Light" panose="020B0004020202020204" pitchFamily="34" charset="0"/>
              <a:ea typeface="+mj-ea"/>
              <a:cs typeface="+mj-cs"/>
            </a:endParaRP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FF64BC2A-1CE8-B282-DC27-E1A21D9C2FCB}"/>
              </a:ext>
            </a:extLst>
          </p:cNvPr>
          <p:cNvSpPr txBox="1">
            <a:spLocks/>
          </p:cNvSpPr>
          <p:nvPr/>
        </p:nvSpPr>
        <p:spPr>
          <a:xfrm>
            <a:off x="589086" y="1174018"/>
            <a:ext cx="10127040" cy="34969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baseline="0">
                <a:solidFill>
                  <a:schemeClr val="tx1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</a:rPr>
              <a:t>Let’s discuss your in-flight initiatives</a:t>
            </a:r>
            <a:r>
              <a:rPr lang="en-US" sz="1600">
                <a:solidFill>
                  <a:srgbClr val="000000"/>
                </a:solidFill>
                <a:latin typeface="Aptos Light"/>
              </a:rPr>
              <a:t>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D83293-E38A-61F5-6CB4-BD947B43FE4C}"/>
              </a:ext>
            </a:extLst>
          </p:cNvPr>
          <p:cNvSpPr txBox="1"/>
          <p:nvPr/>
        </p:nvSpPr>
        <p:spPr>
          <a:xfrm>
            <a:off x="736137" y="2563503"/>
            <a:ext cx="6620628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800">
                <a:latin typeface="Aptos Light" panose="020B0004020202020204" pitchFamily="34" charset="0"/>
              </a:rPr>
              <a:t>Magazine Subscription Forecasting</a:t>
            </a:r>
          </a:p>
          <a:p>
            <a:pPr marL="457200" indent="-4572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800">
                <a:latin typeface="Aptos Light" panose="020B0004020202020204" pitchFamily="34" charset="0"/>
              </a:rPr>
              <a:t>Press Book / Inventory Forecasting</a:t>
            </a:r>
          </a:p>
          <a:p>
            <a:pPr marL="457200" indent="-4572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800">
                <a:latin typeface="Aptos Light" panose="020B0004020202020204" pitchFamily="34" charset="0"/>
              </a:rPr>
              <a:t>Cash Forecasting</a:t>
            </a:r>
          </a:p>
          <a:p>
            <a:pPr marL="457200" indent="-457200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800">
                <a:latin typeface="Aptos Light" panose="020B0004020202020204" pitchFamily="34" charset="0"/>
              </a:rPr>
              <a:t>Cash Application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B6435F-4E01-A154-0261-9949318D22C0}"/>
              </a:ext>
            </a:extLst>
          </p:cNvPr>
          <p:cNvCxnSpPr>
            <a:cxnSpLocks/>
          </p:cNvCxnSpPr>
          <p:nvPr/>
        </p:nvCxnSpPr>
        <p:spPr>
          <a:xfrm>
            <a:off x="7498911" y="2563503"/>
            <a:ext cx="0" cy="2356367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27D5D2E-AD33-D5F9-8736-401F89AC83C5}"/>
              </a:ext>
            </a:extLst>
          </p:cNvPr>
          <p:cNvSpPr txBox="1"/>
          <p:nvPr/>
        </p:nvSpPr>
        <p:spPr>
          <a:xfrm>
            <a:off x="8035166" y="2243740"/>
            <a:ext cx="3727341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pPr marL="285750" lvl="0" indent="-285750" eaLnBrk="0" fontAlgn="base" hangingPunct="0">
              <a:spcBef>
                <a:spcPct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t>Overview and objective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t>Current state: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t>Active projects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t>Program roadmap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ts val="120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t>Expectations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ts val="12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t>Challenges, pain points, etc.</a:t>
            </a:r>
            <a:endParaRPr lang="en-US" altLang="en-US" sz="2000">
              <a:solidFill>
                <a:srgbClr val="212121"/>
              </a:solidFill>
              <a:latin typeface="Aptos Light" panose="020B0004020202020204" pitchFamily="34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84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4004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928EC32-1FA7-79F4-858A-470A25E80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26DEF829-EE1E-01C8-61AC-C78BEC01707B}"/>
              </a:ext>
            </a:extLst>
          </p:cNvPr>
          <p:cNvGrpSpPr/>
          <p:nvPr/>
        </p:nvGrpSpPr>
        <p:grpSpPr>
          <a:xfrm>
            <a:off x="0" y="4549524"/>
            <a:ext cx="12192000" cy="2308476"/>
            <a:chOff x="0" y="4549524"/>
            <a:chExt cx="12192000" cy="2308476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0EDB1E2-14AC-E60C-059F-074776D46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5829"/>
            <a:stretch>
              <a:fillRect/>
            </a:stretch>
          </p:blipFill>
          <p:spPr>
            <a:xfrm>
              <a:off x="0" y="4926842"/>
              <a:ext cx="12192000" cy="1931158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B3D1D0-3621-CA94-C35F-001C519099B9}"/>
                </a:ext>
              </a:extLst>
            </p:cNvPr>
            <p:cNvSpPr/>
            <p:nvPr/>
          </p:nvSpPr>
          <p:spPr>
            <a:xfrm>
              <a:off x="0" y="4549524"/>
              <a:ext cx="12192000" cy="1793582"/>
            </a:xfrm>
            <a:prstGeom prst="rect">
              <a:avLst/>
            </a:prstGeom>
            <a:gradFill>
              <a:gsLst>
                <a:gs pos="0">
                  <a:srgbClr val="100F1D"/>
                </a:gs>
                <a:gs pos="77000">
                  <a:srgbClr val="100F1D">
                    <a:alpha val="25070"/>
                  </a:srgbClr>
                </a:gs>
                <a:gs pos="58000">
                  <a:srgbClr val="100F1D">
                    <a:alpha val="79901"/>
                  </a:srgbClr>
                </a:gs>
                <a:gs pos="100000">
                  <a:srgbClr val="062141">
                    <a:alpha val="1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C97A93F-DAB9-E02A-61C4-5F7740316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5" y="2463800"/>
            <a:ext cx="7160222" cy="2579132"/>
          </a:xfrm>
        </p:spPr>
        <p:txBody>
          <a:bodyPr/>
          <a:lstStyle/>
          <a:p>
            <a:r>
              <a:rPr lang="en-US"/>
              <a:t>Finance Domain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737B24-EE94-C864-777A-7F2A237E7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01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CD67C-71F0-E2CA-A076-EF7FF7868A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EF317-A37A-8347-BE9C-E40E8D6CEC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7CE06-A065-A1CC-527E-3682933FBD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2026 Cleartelligence LLC. Confidential – For internal or authorized use only.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0F275F-B844-0717-D042-C8CE444BCDB1}"/>
              </a:ext>
            </a:extLst>
          </p:cNvPr>
          <p:cNvSpPr txBox="1"/>
          <p:nvPr/>
        </p:nvSpPr>
        <p:spPr>
          <a:xfrm>
            <a:off x="6342321" y="330228"/>
            <a:ext cx="4263656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/>
              <a:t>10 minutes</a:t>
            </a:r>
          </a:p>
        </p:txBody>
      </p:sp>
    </p:spTree>
    <p:extLst>
      <p:ext uri="{BB962C8B-B14F-4D97-AF65-F5344CB8AC3E}">
        <p14:creationId xmlns:p14="http://schemas.microsoft.com/office/powerpoint/2010/main" val="3252838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00DF7-069C-60A6-966F-25DCAB14A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1" y="192370"/>
            <a:ext cx="11249899" cy="2240280"/>
          </a:xfrm>
        </p:spPr>
        <p:txBody>
          <a:bodyPr/>
          <a:lstStyle/>
          <a:p>
            <a:r>
              <a:rPr lang="en-US">
                <a:solidFill>
                  <a:srgbClr val="182D4F"/>
                </a:solidFill>
                <a:latin typeface="Aptos Display" panose="020B0004020202020204" pitchFamily="34" charset="0"/>
                <a:ea typeface="Aptos Display" pitchFamily="34" charset="-122"/>
                <a:cs typeface="Aptos Display" pitchFamily="34" charset="-120"/>
              </a:rPr>
              <a:t>We rebuilt controller finance reporting, then kept building on it.</a:t>
            </a:r>
            <a:br>
              <a:rPr lang="en-US">
                <a:latin typeface="Aptos Display" panose="020B0004020202020204" pitchFamily="34" charset="0"/>
              </a:rPr>
            </a:br>
            <a:endParaRPr lang="en-US">
              <a:latin typeface="Aptos Display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5858E-B33C-0321-DF13-A7C30095B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78EB0-E5E5-12AC-8BCD-AC31BA52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F317-A37A-8347-BE9C-E40E8D6CECD4}" type="slidenum">
              <a:rPr lang="en-US" smtClean="0"/>
              <a:pPr/>
              <a:t>24</a:t>
            </a:fld>
            <a:endParaRPr lang="en-US" sz="90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538B8589-833E-5921-E90D-AD2FED1A6F0B}"/>
              </a:ext>
            </a:extLst>
          </p:cNvPr>
          <p:cNvSpPr/>
          <p:nvPr/>
        </p:nvSpPr>
        <p:spPr>
          <a:xfrm>
            <a:off x="502920" y="5687568"/>
            <a:ext cx="2017166" cy="457200"/>
          </a:xfrm>
          <a:prstGeom prst="rect">
            <a:avLst/>
          </a:prstGeom>
          <a:solidFill>
            <a:srgbClr val="AEB9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2A7DB3C-8178-DC54-CC8A-07F2FC4D8A27}"/>
              </a:ext>
            </a:extLst>
          </p:cNvPr>
          <p:cNvSpPr/>
          <p:nvPr/>
        </p:nvSpPr>
        <p:spPr>
          <a:xfrm>
            <a:off x="502920" y="2697480"/>
            <a:ext cx="201716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spcAft>
                <a:spcPts val="400"/>
              </a:spcAft>
              <a:buNone/>
            </a:pPr>
            <a:r>
              <a:rPr lang="en-US" sz="950" b="1" kern="0" spc="160">
                <a:solidFill>
                  <a:srgbClr val="F280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950"/>
          </a:p>
          <a:p>
            <a:pPr marL="0" indent="0">
              <a:lnSpc>
                <a:spcPct val="94000"/>
              </a:lnSpc>
              <a:spcAft>
                <a:spcPts val="700"/>
              </a:spcAft>
              <a:buNone/>
            </a:pPr>
            <a:r>
              <a:rPr lang="en-US" sz="1500" b="1">
                <a:solidFill>
                  <a:srgbClr val="182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Reporting foundation</a:t>
            </a:r>
            <a:endParaRPr lang="en-US" sz="950"/>
          </a:p>
          <a:p>
            <a:pPr marL="0" indent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100">
                <a:solidFill>
                  <a:srgbClr val="3B4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finance data landed and modeled into an architecture that carries billions of rows and still answers quickly.</a:t>
            </a:r>
            <a:endParaRPr lang="en-US" sz="950"/>
          </a:p>
          <a:p>
            <a:pPr marL="0" indent="0">
              <a:lnSpc>
                <a:spcPct val="104000"/>
              </a:lnSpc>
              <a:buNone/>
            </a:pPr>
            <a:r>
              <a:rPr lang="en-US" sz="1050" b="1">
                <a:solidFill>
                  <a:srgbClr val="F280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 hours of manual prep removed each month</a:t>
            </a:r>
            <a:endParaRPr lang="en-US" sz="95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2313D147-A7C4-189F-6AA8-51E0410FBB48}"/>
              </a:ext>
            </a:extLst>
          </p:cNvPr>
          <p:cNvSpPr/>
          <p:nvPr/>
        </p:nvSpPr>
        <p:spPr>
          <a:xfrm>
            <a:off x="2794406" y="5413248"/>
            <a:ext cx="2017166" cy="731520"/>
          </a:xfrm>
          <a:prstGeom prst="rect">
            <a:avLst/>
          </a:prstGeom>
          <a:solidFill>
            <a:srgbClr val="8D9DB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6649CDF-F013-36D2-77D0-E8F5C432757C}"/>
              </a:ext>
            </a:extLst>
          </p:cNvPr>
          <p:cNvSpPr/>
          <p:nvPr/>
        </p:nvSpPr>
        <p:spPr>
          <a:xfrm>
            <a:off x="2794406" y="2423160"/>
            <a:ext cx="201716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spcAft>
                <a:spcPts val="400"/>
              </a:spcAft>
              <a:buNone/>
            </a:pPr>
            <a:r>
              <a:rPr lang="en-US" sz="950" b="1" kern="0" spc="160">
                <a:solidFill>
                  <a:srgbClr val="F280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</a:t>
            </a:r>
            <a:endParaRPr lang="en-US" sz="950"/>
          </a:p>
          <a:p>
            <a:pPr marL="0" indent="0">
              <a:lnSpc>
                <a:spcPct val="94000"/>
              </a:lnSpc>
              <a:spcAft>
                <a:spcPts val="700"/>
              </a:spcAft>
              <a:buNone/>
            </a:pPr>
            <a:r>
              <a:rPr lang="en-US" sz="1500" b="1">
                <a:solidFill>
                  <a:srgbClr val="182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Accelerated close</a:t>
            </a:r>
            <a:endParaRPr lang="en-US" sz="950"/>
          </a:p>
          <a:p>
            <a:pPr marL="0" indent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100">
                <a:solidFill>
                  <a:srgbClr val="3B4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statements built out in Qlik. Executives filter and drill on live numbers during the close instead of waiting for a pack to be assembled.</a:t>
            </a:r>
            <a:endParaRPr lang="en-US" sz="950"/>
          </a:p>
          <a:p>
            <a:pPr marL="0" indent="0">
              <a:lnSpc>
                <a:spcPct val="104000"/>
              </a:lnSpc>
              <a:buNone/>
            </a:pPr>
            <a:r>
              <a:rPr lang="en-US" sz="1050" b="1">
                <a:solidFill>
                  <a:srgbClr val="F280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accelerated by [X] days</a:t>
            </a:r>
            <a:endParaRPr lang="en-US" sz="95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53219C5A-2BA7-3802-CB19-9BBD6C5A3143}"/>
              </a:ext>
            </a:extLst>
          </p:cNvPr>
          <p:cNvSpPr/>
          <p:nvPr/>
        </p:nvSpPr>
        <p:spPr>
          <a:xfrm>
            <a:off x="5085893" y="5138928"/>
            <a:ext cx="2017166" cy="1005840"/>
          </a:xfrm>
          <a:prstGeom prst="rect">
            <a:avLst/>
          </a:prstGeom>
          <a:solidFill>
            <a:srgbClr val="6B809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E0AF4DE7-A585-EDA5-E3E9-9089056D145B}"/>
              </a:ext>
            </a:extLst>
          </p:cNvPr>
          <p:cNvSpPr/>
          <p:nvPr/>
        </p:nvSpPr>
        <p:spPr>
          <a:xfrm>
            <a:off x="5085893" y="2148840"/>
            <a:ext cx="201716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spcAft>
                <a:spcPts val="400"/>
              </a:spcAft>
              <a:buNone/>
            </a:pPr>
            <a:r>
              <a:rPr lang="en-US" sz="950" b="1" kern="0" spc="160">
                <a:solidFill>
                  <a:srgbClr val="F280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950"/>
          </a:p>
          <a:p>
            <a:pPr marL="0" indent="0">
              <a:lnSpc>
                <a:spcPct val="94000"/>
              </a:lnSpc>
              <a:spcAft>
                <a:spcPts val="700"/>
              </a:spcAft>
              <a:buNone/>
            </a:pPr>
            <a:r>
              <a:rPr lang="en-US" sz="1500" b="1">
                <a:solidFill>
                  <a:srgbClr val="182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Close support</a:t>
            </a:r>
            <a:endParaRPr lang="en-US" sz="950"/>
          </a:p>
          <a:p>
            <a:pPr marL="0" indent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100">
                <a:solidFill>
                  <a:srgbClr val="3B4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Anomalies and fallout flagged proactively, with leadsheets and commentary sitting alongside the numbers they explain.</a:t>
            </a:r>
            <a:endParaRPr lang="en-US" sz="950"/>
          </a:p>
          <a:p>
            <a:pPr marL="0" indent="0">
              <a:lnSpc>
                <a:spcPct val="104000"/>
              </a:lnSpc>
              <a:buNone/>
            </a:pPr>
            <a:r>
              <a:rPr lang="en-US" sz="1050" b="1">
                <a:solidFill>
                  <a:srgbClr val="F280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[X]% of fallout caught before the statements</a:t>
            </a:r>
            <a:endParaRPr lang="en-US" sz="95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91116828-C280-0D98-37A4-AA45C3ABA56E}"/>
              </a:ext>
            </a:extLst>
          </p:cNvPr>
          <p:cNvSpPr/>
          <p:nvPr/>
        </p:nvSpPr>
        <p:spPr>
          <a:xfrm>
            <a:off x="7377379" y="4864608"/>
            <a:ext cx="2017166" cy="1280160"/>
          </a:xfrm>
          <a:prstGeom prst="rect">
            <a:avLst/>
          </a:prstGeom>
          <a:solidFill>
            <a:srgbClr val="3F5C8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9DB7A877-D3D3-331E-1FCB-479BB9FDF35B}"/>
              </a:ext>
            </a:extLst>
          </p:cNvPr>
          <p:cNvSpPr/>
          <p:nvPr/>
        </p:nvSpPr>
        <p:spPr>
          <a:xfrm>
            <a:off x="7377379" y="1874520"/>
            <a:ext cx="201716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spcAft>
                <a:spcPts val="400"/>
              </a:spcAft>
              <a:buNone/>
            </a:pPr>
            <a:r>
              <a:rPr lang="en-US" sz="950" b="1" kern="0" spc="160">
                <a:solidFill>
                  <a:srgbClr val="F280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Foresight</a:t>
            </a:r>
            <a:endParaRPr lang="en-US" sz="950"/>
          </a:p>
          <a:p>
            <a:pPr marL="0" indent="0">
              <a:lnSpc>
                <a:spcPct val="94000"/>
              </a:lnSpc>
              <a:spcAft>
                <a:spcPts val="700"/>
              </a:spcAft>
              <a:buNone/>
            </a:pPr>
            <a:r>
              <a:rPr lang="en-US" sz="1500" b="1">
                <a:solidFill>
                  <a:srgbClr val="182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income statement</a:t>
            </a:r>
            <a:endParaRPr lang="en-US" sz="950"/>
          </a:p>
          <a:p>
            <a:pPr marL="0" indent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100">
                <a:solidFill>
                  <a:srgbClr val="3B4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challenger to the existing forecast, modeled at segment level with automated pipelines doing the model selection. Detailed on the next slide.</a:t>
            </a:r>
            <a:endParaRPr lang="en-US" sz="950"/>
          </a:p>
          <a:p>
            <a:pPr marL="0" indent="0">
              <a:lnSpc>
                <a:spcPct val="104000"/>
              </a:lnSpc>
              <a:buNone/>
            </a:pPr>
            <a:r>
              <a:rPr lang="en-US" sz="1050" b="1">
                <a:solidFill>
                  <a:srgbClr val="F280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[X]% more accurate than the existing forecast</a:t>
            </a:r>
            <a:endParaRPr lang="en-US" sz="95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FFFBD7C2-EE25-1275-BF10-52E081926A2A}"/>
              </a:ext>
            </a:extLst>
          </p:cNvPr>
          <p:cNvSpPr/>
          <p:nvPr/>
        </p:nvSpPr>
        <p:spPr>
          <a:xfrm>
            <a:off x="9668866" y="4590288"/>
            <a:ext cx="2017166" cy="1554480"/>
          </a:xfrm>
          <a:prstGeom prst="rect">
            <a:avLst/>
          </a:prstGeom>
          <a:solidFill>
            <a:srgbClr val="182D4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A438092C-E233-5E42-EA70-0C42B9319709}"/>
              </a:ext>
            </a:extLst>
          </p:cNvPr>
          <p:cNvSpPr/>
          <p:nvPr/>
        </p:nvSpPr>
        <p:spPr>
          <a:xfrm>
            <a:off x="9668866" y="2148840"/>
            <a:ext cx="201716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spcAft>
                <a:spcPts val="400"/>
              </a:spcAft>
              <a:buNone/>
            </a:pPr>
            <a:r>
              <a:rPr lang="en-US" sz="950" b="1" kern="0" spc="160">
                <a:solidFill>
                  <a:srgbClr val="F280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950"/>
          </a:p>
          <a:p>
            <a:pPr marL="0" indent="0">
              <a:lnSpc>
                <a:spcPct val="94000"/>
              </a:lnSpc>
              <a:spcAft>
                <a:spcPts val="700"/>
              </a:spcAft>
              <a:buNone/>
            </a:pPr>
            <a:r>
              <a:rPr lang="en-US" sz="1500" b="1">
                <a:solidFill>
                  <a:srgbClr val="182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 governance, AI supported</a:t>
            </a:r>
            <a:endParaRPr lang="en-US" sz="950"/>
          </a:p>
          <a:p>
            <a:pPr marL="0" indent="0">
              <a:lnSpc>
                <a:spcPct val="106000"/>
              </a:lnSpc>
              <a:spcAft>
                <a:spcPts val="700"/>
              </a:spcAft>
              <a:buNone/>
            </a:pPr>
            <a:r>
              <a:rPr lang="en-US" sz="1100">
                <a:solidFill>
                  <a:srgbClr val="3B4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 traced across the BI estate and metric logic cataloged, moving external reporting toward one agreed source of truth.</a:t>
            </a:r>
            <a:endParaRPr lang="en-US" sz="950"/>
          </a:p>
          <a:p>
            <a:pPr marL="0" indent="0">
              <a:lnSpc>
                <a:spcPct val="104000"/>
              </a:lnSpc>
              <a:buNone/>
            </a:pPr>
            <a:r>
              <a:rPr lang="en-US" sz="1050" b="1">
                <a:solidFill>
                  <a:srgbClr val="F280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 competing definitions rationalized to one</a:t>
            </a:r>
            <a:endParaRPr lang="en-US" sz="95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9F460762-8B2C-E595-DD3F-F464101E6337}"/>
              </a:ext>
            </a:extLst>
          </p:cNvPr>
          <p:cNvSpPr/>
          <p:nvPr/>
        </p:nvSpPr>
        <p:spPr>
          <a:xfrm>
            <a:off x="502920" y="1719072"/>
            <a:ext cx="10763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5B7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were there from the foundation, built the architecture AI ready, and have been able to move straight into AI powered workflows on top of it.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8830CB-E429-0AAA-8197-667FF554D56F}"/>
              </a:ext>
            </a:extLst>
          </p:cNvPr>
          <p:cNvSpPr/>
          <p:nvPr/>
        </p:nvSpPr>
        <p:spPr>
          <a:xfrm>
            <a:off x="3058181" y="-465998"/>
            <a:ext cx="5652655" cy="731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Income Statement, Balance Sheet, Cash Flow, Wall St Metrics</a:t>
            </a:r>
          </a:p>
        </p:txBody>
      </p:sp>
    </p:spTree>
    <p:extLst>
      <p:ext uri="{BB962C8B-B14F-4D97-AF65-F5344CB8AC3E}">
        <p14:creationId xmlns:p14="http://schemas.microsoft.com/office/powerpoint/2010/main" val="414934523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B825CA-7659-C779-1AF7-183E94A97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888B-FF0C-9C45-D568-DA6D44646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latin typeface="Aptos Light" panose="020B0004020202020204" pitchFamily="34" charset="0"/>
              </a:rPr>
              <a:t>Proven Value in the Finance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BB7CD-F79F-1E0D-19FE-B3C3F4D01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5000"/>
            <a:ext cx="11390572" cy="558800"/>
          </a:xfrm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600" b="0">
                <a:solidFill>
                  <a:srgbClr val="156082"/>
                </a:solidFill>
              </a:rPr>
              <a:t>Finance value lands in four places: capacity reclaimed, numbers standardized, decisions made faster and with more confidence, and capabilities scaled without new hires.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9B739-6BAE-E63B-ED99-0EF127E92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Cleartelligence LLC. Confidential – For internal or authorized use only.</a:t>
            </a:r>
            <a:endParaRPr lang="en-US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095E7-0190-396B-46D3-F656826BF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F317-A37A-8347-BE9C-E40E8D6CECD4}" type="slidenum">
              <a:rPr lang="en-US" smtClean="0"/>
              <a:pPr/>
              <a:t>33</a:t>
            </a:fld>
            <a:endParaRPr lang="en-US" sz="900"/>
          </a:p>
        </p:txBody>
      </p:sp>
      <p:sp>
        <p:nvSpPr>
          <p:cNvPr id="300" name="Shape 300"/>
          <p:cNvSpPr/>
          <p:nvPr/>
        </p:nvSpPr>
        <p:spPr>
          <a:xfrm>
            <a:off x="609600" y="2540000"/>
            <a:ext cx="2565400" cy="2540000"/>
          </a:xfrm>
          <a:prstGeom prst="rect">
            <a:avLst/>
          </a:prstGeom>
          <a:solidFill>
            <a:srgbClr val="F4F6F9"/>
          </a:solidFill>
          <a:ln w="9525">
            <a:solidFill>
              <a:srgbClr val="D9E0E8"/>
            </a:solidFill>
          </a:ln>
        </p:spPr>
        <p:txBody>
          <a:bodyPr wrap="square" lIns="177800" tIns="711200" rIns="177800" bIns="685800" anchor="t">
            <a:normAutofit/>
          </a:bodyPr>
          <a:lstStyle/>
          <a:p>
            <a:pPr algn="l">
              <a:buNone/>
            </a:pPr>
            <a:r>
              <a:rPr lang="en-US" sz="1400" b="0">
                <a:solidFill>
                  <a:srgbClr val="110B18"/>
                </a:solidFill>
              </a:rPr>
              <a:t>Manual close, reporting, and reconciliation effort absorbed by the platform</a:t>
            </a:r>
          </a:p>
        </p:txBody>
      </p:sp>
      <p:sp>
        <p:nvSpPr>
          <p:cNvPr id="302" name="Shape 302"/>
          <p:cNvSpPr/>
          <p:nvPr/>
        </p:nvSpPr>
        <p:spPr>
          <a:xfrm>
            <a:off x="609600" y="4495800"/>
            <a:ext cx="2565400" cy="5842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txBody>
          <a:bodyPr wrap="square" lIns="177800" tIns="50800" rIns="127000" bIns="50800" anchor="ctr">
            <a:normAutofit lnSpcReduction="10000"/>
          </a:bodyPr>
          <a:lstStyle/>
          <a:p>
            <a:pPr algn="l">
              <a:buNone/>
            </a:pPr>
            <a:r>
              <a:rPr lang="en-US" sz="1600" b="1" err="1">
                <a:solidFill>
                  <a:srgbClr val="FFFFFF"/>
                </a:solidFill>
              </a:rPr>
              <a:t>Xx</a:t>
            </a:r>
            <a:r>
              <a:rPr lang="en-US" sz="1600" b="1">
                <a:solidFill>
                  <a:srgbClr val="FFFFFF"/>
                </a:solidFill>
              </a:rPr>
              <a:t> Hours reclaimed per close cycle</a:t>
            </a:r>
          </a:p>
        </p:txBody>
      </p:sp>
      <p:sp>
        <p:nvSpPr>
          <p:cNvPr id="303" name="Shape 303"/>
          <p:cNvSpPr/>
          <p:nvPr/>
        </p:nvSpPr>
        <p:spPr>
          <a:xfrm>
            <a:off x="3403600" y="2540000"/>
            <a:ext cx="2565400" cy="2540000"/>
          </a:xfrm>
          <a:prstGeom prst="rect">
            <a:avLst/>
          </a:prstGeom>
          <a:solidFill>
            <a:srgbClr val="F4F6F9"/>
          </a:solidFill>
          <a:ln w="9525">
            <a:solidFill>
              <a:srgbClr val="D9E0E8"/>
            </a:solidFill>
          </a:ln>
        </p:spPr>
        <p:txBody>
          <a:bodyPr wrap="square" lIns="177800" tIns="711200" rIns="177800" bIns="685800" anchor="t">
            <a:normAutofit/>
          </a:bodyPr>
          <a:lstStyle/>
          <a:p>
            <a:pPr algn="l">
              <a:buNone/>
            </a:pPr>
            <a:r>
              <a:rPr lang="en-US" sz="1400" b="0">
                <a:solidFill>
                  <a:srgbClr val="110B18"/>
                </a:solidFill>
              </a:rPr>
              <a:t>One governed set of definitions and processes across the Finance function</a:t>
            </a:r>
          </a:p>
        </p:txBody>
      </p:sp>
      <p:sp>
        <p:nvSpPr>
          <p:cNvPr id="305" name="Shape 305"/>
          <p:cNvSpPr/>
          <p:nvPr/>
        </p:nvSpPr>
        <p:spPr>
          <a:xfrm>
            <a:off x="3403600" y="4495800"/>
            <a:ext cx="2565400" cy="5842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txBody>
          <a:bodyPr wrap="square" lIns="177800" tIns="50800" rIns="127000" bIns="50800" anchor="ctr">
            <a:normAutofit lnSpcReduction="10000"/>
          </a:bodyPr>
          <a:lstStyle/>
          <a:p>
            <a:pPr algn="l">
              <a:buNone/>
            </a:pPr>
            <a:r>
              <a:rPr lang="en-US" sz="1600" b="1">
                <a:solidFill>
                  <a:srgbClr val="FFFFFF"/>
                </a:solidFill>
              </a:rPr>
              <a:t>X% Handoffs and rework eliminated</a:t>
            </a:r>
          </a:p>
        </p:txBody>
      </p:sp>
      <p:sp>
        <p:nvSpPr>
          <p:cNvPr id="306" name="Shape 306"/>
          <p:cNvSpPr/>
          <p:nvPr/>
        </p:nvSpPr>
        <p:spPr>
          <a:xfrm>
            <a:off x="6197600" y="2540000"/>
            <a:ext cx="2565400" cy="2540000"/>
          </a:xfrm>
          <a:prstGeom prst="rect">
            <a:avLst/>
          </a:prstGeom>
          <a:solidFill>
            <a:srgbClr val="F4F6F9"/>
          </a:solidFill>
          <a:ln w="9525">
            <a:solidFill>
              <a:srgbClr val="D9E0E8"/>
            </a:solidFill>
          </a:ln>
        </p:spPr>
        <p:txBody>
          <a:bodyPr wrap="square" lIns="177800" tIns="711200" rIns="177800" bIns="685800" anchor="t">
            <a:normAutofit/>
          </a:bodyPr>
          <a:lstStyle/>
          <a:p>
            <a:pPr algn="l">
              <a:buNone/>
            </a:pPr>
            <a:r>
              <a:rPr lang="en-US" sz="1400" b="0">
                <a:solidFill>
                  <a:srgbClr val="110B18"/>
                </a:solidFill>
              </a:rPr>
              <a:t>Governed definitions and explainable results behind every forecast and variance</a:t>
            </a:r>
          </a:p>
        </p:txBody>
      </p:sp>
      <p:sp>
        <p:nvSpPr>
          <p:cNvPr id="308" name="Shape 308"/>
          <p:cNvSpPr/>
          <p:nvPr/>
        </p:nvSpPr>
        <p:spPr>
          <a:xfrm>
            <a:off x="6197600" y="4495800"/>
            <a:ext cx="2565400" cy="5842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txBody>
          <a:bodyPr wrap="square" lIns="177800" tIns="50800" rIns="127000" bIns="50800" anchor="ctr">
            <a:normAutofit lnSpcReduction="10000"/>
          </a:bodyPr>
          <a:lstStyle/>
          <a:p>
            <a:pPr algn="l">
              <a:buNone/>
            </a:pPr>
            <a:r>
              <a:rPr lang="en-US" sz="1600" b="1">
                <a:solidFill>
                  <a:srgbClr val="FFFFFF"/>
                </a:solidFill>
              </a:rPr>
              <a:t>X% Cycle time and rework reduced</a:t>
            </a:r>
          </a:p>
        </p:txBody>
      </p:sp>
      <p:sp>
        <p:nvSpPr>
          <p:cNvPr id="309" name="Shape 309"/>
          <p:cNvSpPr/>
          <p:nvPr/>
        </p:nvSpPr>
        <p:spPr>
          <a:xfrm>
            <a:off x="8991600" y="2540000"/>
            <a:ext cx="2565400" cy="2540000"/>
          </a:xfrm>
          <a:prstGeom prst="rect">
            <a:avLst/>
          </a:prstGeom>
          <a:solidFill>
            <a:srgbClr val="F4F6F9"/>
          </a:solidFill>
          <a:ln w="9525">
            <a:solidFill>
              <a:srgbClr val="D9E0E8"/>
            </a:solidFill>
          </a:ln>
        </p:spPr>
        <p:txBody>
          <a:bodyPr wrap="square" lIns="177800" tIns="711200" rIns="177800" bIns="685800" anchor="t">
            <a:normAutofit/>
          </a:bodyPr>
          <a:lstStyle/>
          <a:p>
            <a:pPr algn="l">
              <a:buNone/>
            </a:pPr>
            <a:r>
              <a:rPr lang="en-US" sz="1400" b="0">
                <a:solidFill>
                  <a:srgbClr val="110B18"/>
                </a:solidFill>
              </a:rPr>
              <a:t>New volume and scope absorbed by the existing team</a:t>
            </a:r>
          </a:p>
        </p:txBody>
      </p:sp>
      <p:sp>
        <p:nvSpPr>
          <p:cNvPr id="311" name="Shape 311"/>
          <p:cNvSpPr/>
          <p:nvPr/>
        </p:nvSpPr>
        <p:spPr>
          <a:xfrm>
            <a:off x="8991600" y="4495800"/>
            <a:ext cx="2565400" cy="5842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txBody>
          <a:bodyPr wrap="square" lIns="177800" tIns="50800" rIns="127000" bIns="50800" anchor="ctr">
            <a:normAutofit lnSpcReduction="10000"/>
          </a:bodyPr>
          <a:lstStyle/>
          <a:p>
            <a:pPr algn="l">
              <a:buNone/>
            </a:pPr>
            <a:r>
              <a:rPr lang="en-US" sz="1600" b="1">
                <a:solidFill>
                  <a:srgbClr val="FFFFFF"/>
                </a:solidFill>
              </a:rPr>
              <a:t>X% Capacity added without new hires</a:t>
            </a:r>
          </a:p>
        </p:txBody>
      </p:sp>
      <p:sp>
        <p:nvSpPr>
          <p:cNvPr id="312" name="Shape 312"/>
          <p:cNvSpPr/>
          <p:nvPr/>
        </p:nvSpPr>
        <p:spPr>
          <a:xfrm>
            <a:off x="609600" y="5334000"/>
            <a:ext cx="10972800" cy="711200"/>
          </a:xfrm>
          <a:prstGeom prst="rect">
            <a:avLst/>
          </a:prstGeom>
          <a:solidFill>
            <a:srgbClr val="F4F6F9"/>
          </a:solidFill>
          <a:ln w="9525">
            <a:solidFill>
              <a:srgbClr val="D9E0E8"/>
            </a:solidFill>
          </a:ln>
        </p:spPr>
        <p:txBody>
          <a:bodyPr wrap="square" lIns="304800" tIns="101600" rIns="203200" bIns="101600" anchor="ctr">
            <a:norm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E2841"/>
                </a:solidFill>
              </a:rPr>
              <a:t>Case example: a Fortune 20 telecom Finance function. Proven in a single workstream.</a:t>
            </a:r>
          </a:p>
        </p:txBody>
      </p:sp>
      <p:sp>
        <p:nvSpPr>
          <p:cNvPr id="400" name="Shape 400"/>
          <p:cNvSpPr/>
          <p:nvPr/>
        </p:nvSpPr>
        <p:spPr>
          <a:xfrm>
            <a:off x="609600" y="2540000"/>
            <a:ext cx="2565400" cy="5588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 wrap="square" lIns="177800" tIns="76200" rIns="127000" bIns="76200" anchor="ctr">
            <a:normAutofit fontScale="92500" lnSpcReduction="20000"/>
          </a:bodyPr>
          <a:lstStyle/>
          <a:p>
            <a:pPr algn="l">
              <a:buNone/>
            </a:pPr>
            <a:r>
              <a:rPr lang="en-US" sz="1600" b="1">
                <a:solidFill>
                  <a:srgbClr val="FFFFFF"/>
                </a:solidFill>
              </a:rPr>
              <a:t>Automate &amp; Reclaim Capacity</a:t>
            </a:r>
          </a:p>
        </p:txBody>
      </p:sp>
      <p:sp>
        <p:nvSpPr>
          <p:cNvPr id="401" name="Shape 401"/>
          <p:cNvSpPr/>
          <p:nvPr/>
        </p:nvSpPr>
        <p:spPr>
          <a:xfrm>
            <a:off x="3403600" y="2540000"/>
            <a:ext cx="2565400" cy="5588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 wrap="square" lIns="177800" tIns="76200" rIns="127000" bIns="76200" anchor="ctr">
            <a:normAutofit fontScale="92500" lnSpcReduction="20000"/>
          </a:bodyPr>
          <a:lstStyle/>
          <a:p>
            <a:pPr algn="l">
              <a:buNone/>
            </a:pPr>
            <a:r>
              <a:rPr lang="en-US" sz="1600" b="1">
                <a:solidFill>
                  <a:srgbClr val="FFFFFF"/>
                </a:solidFill>
              </a:rPr>
              <a:t>Standardize Cross-Functional Workflows</a:t>
            </a:r>
          </a:p>
        </p:txBody>
      </p:sp>
      <p:sp>
        <p:nvSpPr>
          <p:cNvPr id="402" name="Shape 402"/>
          <p:cNvSpPr/>
          <p:nvPr/>
        </p:nvSpPr>
        <p:spPr>
          <a:xfrm>
            <a:off x="6197600" y="2540000"/>
            <a:ext cx="2565400" cy="5588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 wrap="square" lIns="177800" tIns="76200" rIns="127000" bIns="76200" anchor="ctr">
            <a:normAutofit fontScale="92500" lnSpcReduction="20000"/>
          </a:bodyPr>
          <a:lstStyle/>
          <a:p>
            <a:pPr algn="l">
              <a:buNone/>
            </a:pPr>
            <a:r>
              <a:rPr lang="en-US" sz="1600" b="1">
                <a:solidFill>
                  <a:srgbClr val="FFFFFF"/>
                </a:solidFill>
              </a:rPr>
              <a:t>Accelerate Decisions with Confidence</a:t>
            </a:r>
          </a:p>
        </p:txBody>
      </p:sp>
      <p:sp>
        <p:nvSpPr>
          <p:cNvPr id="403" name="Shape 403"/>
          <p:cNvSpPr/>
          <p:nvPr/>
        </p:nvSpPr>
        <p:spPr>
          <a:xfrm>
            <a:off x="8991600" y="2540000"/>
            <a:ext cx="2565400" cy="5588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 wrap="square" lIns="177800" tIns="76200" rIns="127000" bIns="76200" anchor="ctr">
            <a:normAutofit fontScale="92500"/>
          </a:bodyPr>
          <a:lstStyle/>
          <a:p>
            <a:pPr algn="l">
              <a:buNone/>
            </a:pPr>
            <a:r>
              <a:rPr lang="en-US" sz="1600" b="1">
                <a:solidFill>
                  <a:srgbClr val="FFFFFF"/>
                </a:solidFill>
              </a:rPr>
              <a:t>Scale Without Headcount</a:t>
            </a:r>
          </a:p>
        </p:txBody>
      </p:sp>
      <p:sp>
        <p:nvSpPr>
          <p:cNvPr id="404" name="Shape 404"/>
          <p:cNvSpPr/>
          <p:nvPr/>
        </p:nvSpPr>
        <p:spPr>
          <a:xfrm>
            <a:off x="609600" y="5334000"/>
            <a:ext cx="50800" cy="711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8BD11F-B9C5-9FF2-2034-D553FB0C4C33}"/>
              </a:ext>
            </a:extLst>
          </p:cNvPr>
          <p:cNvSpPr txBox="1"/>
          <p:nvPr/>
        </p:nvSpPr>
        <p:spPr>
          <a:xfrm>
            <a:off x="3202148" y="-40978"/>
            <a:ext cx="7468191" cy="92333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/>
              <a:t>Gareth – Verizon, goal is to have reusable content for Finance POV</a:t>
            </a:r>
          </a:p>
          <a:p>
            <a:endParaRPr lang="en-US"/>
          </a:p>
          <a:p>
            <a:r>
              <a:rPr lang="en-US"/>
              <a:t>Need hours / $ saved.  This should be a metrics slide.</a:t>
            </a:r>
          </a:p>
        </p:txBody>
      </p:sp>
    </p:spTree>
    <p:extLst>
      <p:ext uri="{BB962C8B-B14F-4D97-AF65-F5344CB8AC3E}">
        <p14:creationId xmlns:p14="http://schemas.microsoft.com/office/powerpoint/2010/main" val="42460407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183"/>
            <a:ext cx="10972800" cy="900000"/>
          </a:xfrm>
        </p:spPr>
        <p:txBody>
          <a:bodyPr/>
          <a:lstStyle/>
          <a:p>
            <a:r>
              <a:rPr lang="en-US" sz="3200">
                <a:solidFill>
                  <a:schemeClr val="tx2"/>
                </a:solidFill>
              </a:rPr>
              <a:t>From Today to Tomorrow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2026 Cleartelligence LLC. Confidential – For internal or authorized use only.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EF317-A37A-8347-BE9C-E40E8D6CEC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01" name="ColHeader"/>
          <p:cNvSpPr/>
          <p:nvPr/>
        </p:nvSpPr>
        <p:spPr>
          <a:xfrm>
            <a:off x="2659600" y="1150000"/>
            <a:ext cx="43864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10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TODAY</a:t>
            </a:r>
          </a:p>
        </p:txBody>
      </p:sp>
      <p:sp>
        <p:nvSpPr>
          <p:cNvPr id="1002" name="ColHeader"/>
          <p:cNvSpPr/>
          <p:nvPr/>
        </p:nvSpPr>
        <p:spPr>
          <a:xfrm>
            <a:off x="7196000" y="1150000"/>
            <a:ext cx="4386400" cy="32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100" normalizeH="0" baseline="0" noProof="0">
                <a:ln>
                  <a:noFill/>
                </a:ln>
                <a:solidFill>
                  <a:srgbClr val="F28014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TOMORROW</a:t>
            </a:r>
          </a:p>
        </p:txBody>
      </p:sp>
      <p:sp>
        <p:nvSpPr>
          <p:cNvPr id="1003" name="RowLabel"/>
          <p:cNvSpPr/>
          <p:nvPr/>
        </p:nvSpPr>
        <p:spPr>
          <a:xfrm>
            <a:off x="609600" y="1827895"/>
            <a:ext cx="2050000" cy="28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82D4F"/>
                </a:solidFill>
                <a:effectLst/>
                <a:uLnTx/>
                <a:uFillTx/>
                <a:latin typeface="Aptos Display" pitchFamily="34" charset="0"/>
                <a:ea typeface="+mn-ea"/>
                <a:cs typeface="+mn-cs"/>
              </a:rPr>
              <a:t>Forecasting Coverage</a:t>
            </a:r>
          </a:p>
        </p:txBody>
      </p:sp>
      <p:sp>
        <p:nvSpPr>
          <p:cNvPr id="1004" name="Cell"/>
          <p:cNvSpPr/>
          <p:nvPr/>
        </p:nvSpPr>
        <p:spPr>
          <a:xfrm>
            <a:off x="2659600" y="1830000"/>
            <a:ext cx="4386400" cy="780000"/>
          </a:xfrm>
          <a:prstGeom prst="rect">
            <a:avLst/>
          </a:prstGeom>
          <a:solidFill>
            <a:srgbClr val="F4F6F9"/>
          </a:solidFill>
          <a:ln w="9525">
            <a:solidFill>
              <a:srgbClr val="D5DCE5"/>
            </a:solidFill>
          </a:ln>
        </p:spPr>
        <p:txBody>
          <a:bodyPr wrap="square" lIns="182880" tIns="127000" rIns="182880" bIns="127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Magazine subscriptions in testing; press book and cash still handled manually, each on its own timeline</a:t>
            </a:r>
          </a:p>
        </p:txBody>
      </p:sp>
      <p:sp>
        <p:nvSpPr>
          <p:cNvPr id="1005" name="Cell"/>
          <p:cNvSpPr/>
          <p:nvPr/>
        </p:nvSpPr>
        <p:spPr>
          <a:xfrm>
            <a:off x="7196000" y="1830000"/>
            <a:ext cx="4386400" cy="780000"/>
          </a:xfrm>
          <a:prstGeom prst="rect">
            <a:avLst/>
          </a:prstGeom>
          <a:solidFill>
            <a:srgbClr val="F4F6F9"/>
          </a:solidFill>
          <a:ln w="9525">
            <a:solidFill>
              <a:srgbClr val="D5DCE5"/>
            </a:solidFill>
          </a:ln>
        </p:spPr>
        <p:txBody>
          <a:bodyPr wrap="square" lIns="182880" tIns="127000" rIns="182880" bIns="127000" anchor="t">
            <a:noAutofit/>
          </a:bodyPr>
          <a:lstStyle/>
          <a:p>
            <a:pPr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/>
              </a:rPr>
              <a:t>One governed foundation extends a scalable forecasting approach across all business lines</a:t>
            </a:r>
            <a:r>
              <a:rPr lang="en-US" sz="1400">
                <a:solidFill>
                  <a:srgbClr val="3B4C61"/>
                </a:solidFill>
                <a:latin typeface="Aptos"/>
              </a:rPr>
              <a:t>, driving </a:t>
            </a:r>
            <a:r>
              <a:rPr lang="en-US" sz="1400" b="1">
                <a:solidFill>
                  <a:srgbClr val="3B4C61"/>
                </a:solidFill>
                <a:latin typeface="Aptos"/>
              </a:rPr>
              <a:t>repeatability and accuracy</a:t>
            </a:r>
            <a:endParaRPr lang="en-US" sz="1400" b="1" i="0" u="none" strike="noStrike" kern="1200" cap="none" spc="0" normalizeH="0" baseline="0" noProof="0">
              <a:ln>
                <a:noFill/>
              </a:ln>
              <a:solidFill>
                <a:srgbClr val="3B4C61"/>
              </a:solidFill>
              <a:effectLst/>
              <a:uLnTx/>
              <a:uFillTx/>
              <a:latin typeface="Aptos" pitchFamily="34" charset="0"/>
            </a:endParaRPr>
          </a:p>
        </p:txBody>
      </p:sp>
      <p:sp>
        <p:nvSpPr>
          <p:cNvPr id="1006" name="RowLabel"/>
          <p:cNvSpPr/>
          <p:nvPr/>
        </p:nvSpPr>
        <p:spPr>
          <a:xfrm>
            <a:off x="609600" y="3007895"/>
            <a:ext cx="2050000" cy="28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82D4F"/>
                </a:solidFill>
                <a:effectLst/>
                <a:uLnTx/>
                <a:uFillTx/>
                <a:latin typeface="Aptos Display" pitchFamily="34" charset="0"/>
                <a:ea typeface="+mn-ea"/>
                <a:cs typeface="+mn-cs"/>
              </a:rPr>
              <a:t>Metric Definitions</a:t>
            </a:r>
          </a:p>
        </p:txBody>
      </p:sp>
      <p:sp>
        <p:nvSpPr>
          <p:cNvPr id="1007" name="Cell"/>
          <p:cNvSpPr/>
          <p:nvPr/>
        </p:nvSpPr>
        <p:spPr>
          <a:xfrm>
            <a:off x="2659600" y="3009999"/>
            <a:ext cx="4386400" cy="774700"/>
          </a:xfrm>
          <a:prstGeom prst="rect">
            <a:avLst/>
          </a:prstGeom>
          <a:solidFill>
            <a:srgbClr val="F4F6F9"/>
          </a:solidFill>
          <a:ln w="9525">
            <a:solidFill>
              <a:srgbClr val="D5DCE5"/>
            </a:solidFill>
          </a:ln>
        </p:spPr>
        <p:txBody>
          <a:bodyPr wrap="square" lIns="182880" tIns="127000" rIns="182880" bIns="127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No governed semantic layer in Snowflake; some calculations may live in Tableau, with definitions kept in Confluence</a:t>
            </a:r>
          </a:p>
        </p:txBody>
      </p:sp>
      <p:sp>
        <p:nvSpPr>
          <p:cNvPr id="1008" name="Cell"/>
          <p:cNvSpPr/>
          <p:nvPr/>
        </p:nvSpPr>
        <p:spPr>
          <a:xfrm>
            <a:off x="7196000" y="3010000"/>
            <a:ext cx="4386400" cy="780000"/>
          </a:xfrm>
          <a:prstGeom prst="rect">
            <a:avLst/>
          </a:prstGeom>
          <a:solidFill>
            <a:srgbClr val="F4F6F9"/>
          </a:solidFill>
          <a:ln w="9525">
            <a:solidFill>
              <a:srgbClr val="D5DCE5"/>
            </a:solidFill>
          </a:ln>
        </p:spPr>
        <p:txBody>
          <a:bodyPr wrap="square" lIns="182880" tIns="127000" rIns="182880" bIns="127000" anchor="t">
            <a:normAutofit fontScale="92500" lnSpcReduction="20000"/>
          </a:bodyPr>
          <a:lstStyle/>
          <a:p>
            <a:pPr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/>
              </a:rPr>
              <a:t>A governed definition for every metric, reused everywhere it's needed</a:t>
            </a:r>
            <a:r>
              <a:rPr lang="en-US" sz="1400">
                <a:solidFill>
                  <a:srgbClr val="3B4C61"/>
                </a:solidFill>
                <a:latin typeface="Aptos"/>
              </a:rPr>
              <a:t>, for an </a:t>
            </a:r>
            <a:r>
              <a:rPr lang="en-US" sz="1400" b="1">
                <a:solidFill>
                  <a:srgbClr val="3B4C61"/>
                </a:solidFill>
                <a:latin typeface="Aptos"/>
              </a:rPr>
              <a:t>accelerated process </a:t>
            </a:r>
            <a:r>
              <a:rPr lang="en-US" sz="1400">
                <a:solidFill>
                  <a:srgbClr val="3B4C61"/>
                </a:solidFill>
                <a:latin typeface="Aptos"/>
              </a:rPr>
              <a:t>that can be</a:t>
            </a:r>
            <a:r>
              <a:rPr lang="en-US" sz="1400" b="1">
                <a:solidFill>
                  <a:srgbClr val="3B4C61"/>
                </a:solidFill>
                <a:latin typeface="Aptos"/>
              </a:rPr>
              <a:t> extended to new use cases.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3B4C61"/>
              </a:solidFill>
              <a:effectLst/>
              <a:uLnTx/>
              <a:uFillTx/>
              <a:latin typeface="Aptos" pitchFamily="34" charset="0"/>
              <a:ea typeface="+mn-ea"/>
              <a:cs typeface="+mn-cs"/>
            </a:endParaRPr>
          </a:p>
        </p:txBody>
      </p:sp>
      <p:sp>
        <p:nvSpPr>
          <p:cNvPr id="1009" name="RowLabel"/>
          <p:cNvSpPr/>
          <p:nvPr/>
        </p:nvSpPr>
        <p:spPr>
          <a:xfrm>
            <a:off x="609600" y="4190000"/>
            <a:ext cx="2050000" cy="28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82D4F"/>
                </a:solidFill>
                <a:effectLst/>
                <a:uLnTx/>
                <a:uFillTx/>
                <a:latin typeface="Aptos Display" pitchFamily="34" charset="0"/>
                <a:ea typeface="+mn-ea"/>
                <a:cs typeface="+mn-cs"/>
              </a:rPr>
              <a:t>Scenario Planning</a:t>
            </a:r>
          </a:p>
        </p:txBody>
      </p:sp>
      <p:sp>
        <p:nvSpPr>
          <p:cNvPr id="1010" name="Cell"/>
          <p:cNvSpPr/>
          <p:nvPr/>
        </p:nvSpPr>
        <p:spPr>
          <a:xfrm>
            <a:off x="2659600" y="4190000"/>
            <a:ext cx="4386400" cy="780000"/>
          </a:xfrm>
          <a:prstGeom prst="rect">
            <a:avLst/>
          </a:prstGeom>
          <a:solidFill>
            <a:srgbClr val="F4F6F9"/>
          </a:solidFill>
          <a:ln w="9525">
            <a:solidFill>
              <a:srgbClr val="D5DCE5"/>
            </a:solidFill>
          </a:ln>
        </p:spPr>
        <p:txBody>
          <a:bodyPr wrap="square" lIns="182880" tIns="127000" rIns="182880" bIns="12700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A what-if question means rebuilding a model by hand</a:t>
            </a:r>
          </a:p>
        </p:txBody>
      </p:sp>
      <p:sp>
        <p:nvSpPr>
          <p:cNvPr id="1011" name="Cell"/>
          <p:cNvSpPr/>
          <p:nvPr/>
        </p:nvSpPr>
        <p:spPr>
          <a:xfrm>
            <a:off x="7196000" y="4190000"/>
            <a:ext cx="4386400" cy="780000"/>
          </a:xfrm>
          <a:prstGeom prst="rect">
            <a:avLst/>
          </a:prstGeom>
          <a:solidFill>
            <a:srgbClr val="F4F6F9"/>
          </a:solidFill>
          <a:ln w="9525">
            <a:solidFill>
              <a:srgbClr val="D5DCE5"/>
            </a:solidFill>
          </a:ln>
        </p:spPr>
        <p:txBody>
          <a:bodyPr wrap="square" lIns="182880" tIns="127000" rIns="182880" bIns="127000" anchor="t">
            <a:normAutofit fontScale="92500" lnSpcReduction="20000"/>
          </a:bodyPr>
          <a:lstStyle/>
          <a:p>
            <a:pPr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Adjust a driver or try a new model and see the projected impact in minutes across levels</a:t>
            </a:r>
            <a:r>
              <a:rPr lang="en-US" sz="1400">
                <a:solidFill>
                  <a:srgbClr val="3B4C61"/>
                </a:solidFill>
                <a:latin typeface="Aptos"/>
              </a:rPr>
              <a:t>, enabling </a:t>
            </a:r>
            <a:r>
              <a:rPr lang="en-US" sz="1400" b="1">
                <a:solidFill>
                  <a:srgbClr val="3B4C61"/>
                </a:solidFill>
                <a:latin typeface="Aptos"/>
              </a:rPr>
              <a:t>faster scenario analysis </a:t>
            </a:r>
            <a:r>
              <a:rPr lang="en-US" sz="1400">
                <a:solidFill>
                  <a:srgbClr val="3B4C61"/>
                </a:solidFill>
                <a:latin typeface="Aptos"/>
              </a:rPr>
              <a:t>and </a:t>
            </a:r>
            <a:r>
              <a:rPr lang="en-US" sz="1400" b="1">
                <a:solidFill>
                  <a:srgbClr val="3B4C61"/>
                </a:solidFill>
                <a:latin typeface="Aptos"/>
              </a:rPr>
              <a:t>segmentation by LOB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3B4C61"/>
              </a:solidFill>
              <a:effectLst/>
              <a:uLnTx/>
              <a:uFillTx/>
              <a:latin typeface="Aptos" pitchFamily="34" charset="0"/>
              <a:ea typeface="+mn-ea"/>
              <a:cs typeface="+mn-cs"/>
            </a:endParaRPr>
          </a:p>
        </p:txBody>
      </p:sp>
      <p:sp>
        <p:nvSpPr>
          <p:cNvPr id="1012" name="RowLabel"/>
          <p:cNvSpPr/>
          <p:nvPr/>
        </p:nvSpPr>
        <p:spPr>
          <a:xfrm>
            <a:off x="609600" y="5370000"/>
            <a:ext cx="2050000" cy="28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82D4F"/>
                </a:solidFill>
                <a:effectLst/>
                <a:uLnTx/>
                <a:uFillTx/>
                <a:latin typeface="Aptos Display" pitchFamily="34" charset="0"/>
                <a:ea typeface="+mn-ea"/>
                <a:cs typeface="+mn-cs"/>
              </a:rPr>
              <a:t>Adjustments &amp; Governance</a:t>
            </a:r>
          </a:p>
        </p:txBody>
      </p:sp>
      <p:sp>
        <p:nvSpPr>
          <p:cNvPr id="1013" name="Cell"/>
          <p:cNvSpPr/>
          <p:nvPr/>
        </p:nvSpPr>
        <p:spPr>
          <a:xfrm>
            <a:off x="2659600" y="5370000"/>
            <a:ext cx="4386400" cy="780000"/>
          </a:xfrm>
          <a:prstGeom prst="rect">
            <a:avLst/>
          </a:prstGeom>
          <a:solidFill>
            <a:srgbClr val="F4F6F9"/>
          </a:solidFill>
          <a:ln w="9525">
            <a:solidFill>
              <a:srgbClr val="D5DCE5"/>
            </a:solidFill>
          </a:ln>
        </p:spPr>
        <p:txBody>
          <a:bodyPr wrap="square" lIns="182880" tIns="127000" rIns="182880" bIns="12700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Manual overrides live in spreadsheets or separate reports, with no record of who changed what or why</a:t>
            </a:r>
          </a:p>
        </p:txBody>
      </p:sp>
      <p:sp>
        <p:nvSpPr>
          <p:cNvPr id="1014" name="Cell"/>
          <p:cNvSpPr/>
          <p:nvPr/>
        </p:nvSpPr>
        <p:spPr>
          <a:xfrm>
            <a:off x="7196000" y="5370000"/>
            <a:ext cx="4386400" cy="780000"/>
          </a:xfrm>
          <a:prstGeom prst="rect">
            <a:avLst/>
          </a:prstGeom>
          <a:solidFill>
            <a:srgbClr val="F4F6F9"/>
          </a:solidFill>
          <a:ln w="9525">
            <a:solidFill>
              <a:srgbClr val="D5DCE5"/>
            </a:solidFill>
          </a:ln>
        </p:spPr>
        <p:txBody>
          <a:bodyPr wrap="square" lIns="182880" tIns="127000" rIns="182880" bIns="127000" anchor="t">
            <a:normAutofit fontScale="92500" lnSpcReduction="20000"/>
          </a:bodyPr>
          <a:lstStyle/>
          <a:p>
            <a:pPr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/>
              </a:rPr>
              <a:t>Every adjustment captured with rationale, user, version, and approval status</a:t>
            </a:r>
            <a:r>
              <a:rPr lang="en-US" sz="1400">
                <a:solidFill>
                  <a:srgbClr val="3B4C61"/>
                </a:solidFill>
                <a:latin typeface="Aptos"/>
              </a:rPr>
              <a:t> to allow for </a:t>
            </a:r>
            <a:r>
              <a:rPr lang="en-US" sz="1400" b="1">
                <a:solidFill>
                  <a:srgbClr val="3B4C61"/>
                </a:solidFill>
                <a:latin typeface="Aptos"/>
              </a:rPr>
              <a:t>historical lookback </a:t>
            </a:r>
            <a:r>
              <a:rPr lang="en-US" sz="1400">
                <a:solidFill>
                  <a:srgbClr val="3B4C61"/>
                </a:solidFill>
                <a:latin typeface="Aptos"/>
              </a:rPr>
              <a:t>and </a:t>
            </a:r>
            <a:r>
              <a:rPr lang="en-US" sz="1400" b="1">
                <a:solidFill>
                  <a:srgbClr val="3B4C61"/>
                </a:solidFill>
                <a:latin typeface="Aptos"/>
              </a:rPr>
              <a:t>accuracy comparisons</a:t>
            </a:r>
            <a:r>
              <a:rPr lang="en-US" sz="1400">
                <a:solidFill>
                  <a:srgbClr val="3B4C61"/>
                </a:solidFill>
                <a:latin typeface="Aptos"/>
              </a:rPr>
              <a:t>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B4C61"/>
              </a:solidFill>
              <a:effectLst/>
              <a:uLnTx/>
              <a:uFillTx/>
              <a:latin typeface="Aptos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7784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44502-1AE6-F354-E52C-7D86EAFE1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FP&amp;A End-to-End Integration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DA4B04-0CB7-0048-5F4A-ED69D63EC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2026 Cleartelligence LLC. Confidential – For internal or authorized use only.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B71F1-33C5-1676-682B-BE231812E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EF317-A37A-8347-BE9C-E40E8D6CEC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0" name="Label 200"/>
          <p:cNvSpPr txBox="1"/>
          <p:nvPr/>
        </p:nvSpPr>
        <p:spPr>
          <a:xfrm>
            <a:off x="609600" y="18542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spc="120">
                <a:solidFill>
                  <a:srgbClr val="5A6B7A"/>
                </a:solidFill>
              </a:rPr>
              <a:t>1 · SOURCES</a:t>
            </a:r>
          </a:p>
        </p:txBody>
      </p:sp>
      <p:sp>
        <p:nvSpPr>
          <p:cNvPr id="201" name="Label 201"/>
          <p:cNvSpPr txBox="1"/>
          <p:nvPr/>
        </p:nvSpPr>
        <p:spPr>
          <a:xfrm>
            <a:off x="2743200" y="1854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spc="120">
                <a:solidFill>
                  <a:srgbClr val="5A6B7A"/>
                </a:solidFill>
              </a:rPr>
              <a:t>2 · GOVERNED DATA</a:t>
            </a:r>
          </a:p>
        </p:txBody>
      </p:sp>
      <p:sp>
        <p:nvSpPr>
          <p:cNvPr id="202" name="Label 202"/>
          <p:cNvSpPr txBox="1"/>
          <p:nvPr/>
        </p:nvSpPr>
        <p:spPr>
          <a:xfrm>
            <a:off x="5892800" y="1854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spc="120">
                <a:solidFill>
                  <a:srgbClr val="5A6B7A"/>
                </a:solidFill>
              </a:rPr>
              <a:t>3 · INTELLIGENCE</a:t>
            </a:r>
          </a:p>
        </p:txBody>
      </p:sp>
      <p:sp>
        <p:nvSpPr>
          <p:cNvPr id="203" name="Label 203"/>
          <p:cNvSpPr txBox="1"/>
          <p:nvPr/>
        </p:nvSpPr>
        <p:spPr>
          <a:xfrm>
            <a:off x="9042400" y="1854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spc="120">
                <a:solidFill>
                  <a:srgbClr val="5A6B7A"/>
                </a:solidFill>
              </a:rPr>
              <a:t>4 · PLAN &amp; COMMIT</a:t>
            </a:r>
          </a:p>
        </p:txBody>
      </p:sp>
      <p:sp>
        <p:nvSpPr>
          <p:cNvPr id="204" name="Shape 204"/>
          <p:cNvSpPr/>
          <p:nvPr/>
        </p:nvSpPr>
        <p:spPr>
          <a:xfrm>
            <a:off x="609600" y="2108200"/>
            <a:ext cx="1524000" cy="37973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A"/>
            </a:solidFill>
          </a:ln>
        </p:spPr>
        <p:txBody>
          <a:bodyPr wrap="square" lIns="101600" tIns="101600" rIns="50800" bIns="101600" anchor="t" anchorCtr="0">
            <a:norm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0E2841"/>
                </a:solidFill>
              </a:rPr>
              <a:t>Source Data</a:t>
            </a:r>
          </a:p>
          <a:p>
            <a:pPr marL="114300" indent="-114300" algn="l">
              <a:spcBef>
                <a:spcPts val="300"/>
              </a:spcBef>
              <a:buFont typeface="Arial"/>
              <a:buChar char="•"/>
            </a:pPr>
            <a:r>
              <a:rPr lang="en-US" sz="1400">
                <a:solidFill>
                  <a:srgbClr val="110B18"/>
                </a:solidFill>
              </a:rPr>
              <a:t>Subscriptions</a:t>
            </a:r>
          </a:p>
          <a:p>
            <a:pPr marL="114300" indent="-114300" algn="l">
              <a:spcBef>
                <a:spcPts val="300"/>
              </a:spcBef>
              <a:buFont typeface="Arial"/>
              <a:buChar char="•"/>
            </a:pPr>
            <a:r>
              <a:rPr lang="en-US" sz="1400">
                <a:solidFill>
                  <a:srgbClr val="110B18"/>
                </a:solidFill>
              </a:rPr>
              <a:t>Sales</a:t>
            </a:r>
          </a:p>
          <a:p>
            <a:pPr marL="114300" indent="-114300" algn="l">
              <a:spcBef>
                <a:spcPts val="300"/>
              </a:spcBef>
              <a:buFont typeface="Arial"/>
              <a:buChar char="•"/>
            </a:pPr>
            <a:r>
              <a:rPr lang="en-US" sz="1400">
                <a:solidFill>
                  <a:srgbClr val="110B18"/>
                </a:solidFill>
              </a:rPr>
              <a:t>Inventory</a:t>
            </a:r>
          </a:p>
          <a:p>
            <a:pPr marL="114300" indent="-114300" algn="l">
              <a:spcBef>
                <a:spcPts val="300"/>
              </a:spcBef>
              <a:buFont typeface="Arial"/>
              <a:buChar char="•"/>
            </a:pPr>
            <a:r>
              <a:rPr lang="en-US" sz="1400">
                <a:solidFill>
                  <a:srgbClr val="110B18"/>
                </a:solidFill>
              </a:rPr>
              <a:t>GL</a:t>
            </a:r>
          </a:p>
          <a:p>
            <a:pPr marL="114300" indent="-114300" algn="l">
              <a:spcBef>
                <a:spcPts val="300"/>
              </a:spcBef>
              <a:buFont typeface="Arial"/>
              <a:buChar char="•"/>
            </a:pPr>
            <a:r>
              <a:rPr lang="en-US" sz="1400">
                <a:solidFill>
                  <a:srgbClr val="110B18"/>
                </a:solidFill>
              </a:rPr>
              <a:t>AR/AP</a:t>
            </a:r>
          </a:p>
          <a:p>
            <a:pPr marL="114300" indent="-114300" algn="l">
              <a:spcBef>
                <a:spcPts val="300"/>
              </a:spcBef>
              <a:buFont typeface="Arial"/>
              <a:buChar char="•"/>
            </a:pPr>
            <a:r>
              <a:rPr lang="en-US" sz="1400">
                <a:solidFill>
                  <a:srgbClr val="110B18"/>
                </a:solidFill>
              </a:rPr>
              <a:t>Payroll</a:t>
            </a:r>
          </a:p>
        </p:txBody>
      </p:sp>
      <p:sp>
        <p:nvSpPr>
          <p:cNvPr id="205" name="Shape 205"/>
          <p:cNvSpPr/>
          <p:nvPr/>
        </p:nvSpPr>
        <p:spPr>
          <a:xfrm>
            <a:off x="609600" y="2108200"/>
            <a:ext cx="50800" cy="3797300"/>
          </a:xfrm>
          <a:prstGeom prst="rect">
            <a:avLst/>
          </a:prstGeom>
          <a:solidFill>
            <a:srgbClr val="B5C2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Shape 206"/>
          <p:cNvSpPr/>
          <p:nvPr/>
        </p:nvSpPr>
        <p:spPr>
          <a:xfrm>
            <a:off x="2743200" y="2108200"/>
            <a:ext cx="2540000" cy="17907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A"/>
            </a:solidFill>
          </a:ln>
        </p:spPr>
        <p:txBody>
          <a:bodyPr wrap="square" lIns="203200" tIns="101600" rIns="152400" bIns="101600" anchor="t">
            <a:norm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0E2841"/>
                </a:solidFill>
              </a:rPr>
              <a:t>Data Foundation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>
                <a:solidFill>
                  <a:srgbClr val="110B18"/>
                </a:solidFill>
              </a:rPr>
              <a:t>Historical actuals, transactions, contracts, and operational data</a:t>
            </a:r>
          </a:p>
        </p:txBody>
      </p:sp>
      <p:sp>
        <p:nvSpPr>
          <p:cNvPr id="207" name="Shape 207"/>
          <p:cNvSpPr/>
          <p:nvPr/>
        </p:nvSpPr>
        <p:spPr>
          <a:xfrm>
            <a:off x="2743200" y="2108200"/>
            <a:ext cx="50800" cy="1790700"/>
          </a:xfrm>
          <a:prstGeom prst="rect">
            <a:avLst/>
          </a:prstGeom>
          <a:solidFill>
            <a:srgbClr val="8E9FE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Shape 209"/>
          <p:cNvSpPr/>
          <p:nvPr/>
        </p:nvSpPr>
        <p:spPr>
          <a:xfrm>
            <a:off x="2743200" y="4114800"/>
            <a:ext cx="2540000" cy="17907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A"/>
            </a:solidFill>
          </a:ln>
        </p:spPr>
        <p:txBody>
          <a:bodyPr wrap="square" lIns="203200" tIns="101600" rIns="152400" bIns="101600" anchor="t">
            <a:norm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0E2841"/>
                </a:solidFill>
              </a:rPr>
              <a:t>Semantic Layer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>
                <a:solidFill>
                  <a:srgbClr val="110B18"/>
                </a:solidFill>
              </a:rPr>
              <a:t>Governed definitions for revenue, renewals, returns, customers, titles, and cash</a:t>
            </a:r>
          </a:p>
        </p:txBody>
      </p:sp>
      <p:sp>
        <p:nvSpPr>
          <p:cNvPr id="210" name="Shape 210"/>
          <p:cNvSpPr/>
          <p:nvPr/>
        </p:nvSpPr>
        <p:spPr>
          <a:xfrm>
            <a:off x="2743200" y="4114800"/>
            <a:ext cx="50800" cy="1790700"/>
          </a:xfrm>
          <a:prstGeom prst="rect">
            <a:avLst/>
          </a:prstGeom>
          <a:solidFill>
            <a:srgbClr val="8E9FE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Shape 211"/>
          <p:cNvSpPr/>
          <p:nvPr/>
        </p:nvSpPr>
        <p:spPr>
          <a:xfrm>
            <a:off x="5892800" y="2108200"/>
            <a:ext cx="2540000" cy="1219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A"/>
            </a:solidFill>
          </a:ln>
        </p:spPr>
        <p:txBody>
          <a:bodyPr wrap="square" lIns="203200" tIns="101600" rIns="152400" bIns="101600" anchor="t">
            <a:norm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0E2841"/>
                </a:solidFill>
              </a:rPr>
              <a:t>Forecasting Engine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>
                <a:solidFill>
                  <a:srgbClr val="110B18"/>
                </a:solidFill>
              </a:rPr>
              <a:t>Baseline forecasts from history, drivers, seasonality</a:t>
            </a:r>
          </a:p>
        </p:txBody>
      </p:sp>
      <p:sp>
        <p:nvSpPr>
          <p:cNvPr id="212" name="Shape 212"/>
          <p:cNvSpPr/>
          <p:nvPr/>
        </p:nvSpPr>
        <p:spPr>
          <a:xfrm>
            <a:off x="5892800" y="2108200"/>
            <a:ext cx="50800" cy="1219200"/>
          </a:xfrm>
          <a:prstGeom prst="rect">
            <a:avLst/>
          </a:prstGeom>
          <a:solidFill>
            <a:srgbClr val="5568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Shape 214"/>
          <p:cNvSpPr/>
          <p:nvPr/>
        </p:nvSpPr>
        <p:spPr>
          <a:xfrm>
            <a:off x="5892800" y="3397250"/>
            <a:ext cx="2540000" cy="1219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A"/>
            </a:solidFill>
          </a:ln>
        </p:spPr>
        <p:txBody>
          <a:bodyPr wrap="square" lIns="203200" tIns="101600" rIns="152400" bIns="101600" anchor="t">
            <a:norm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0E2841"/>
                </a:solidFill>
              </a:rPr>
              <a:t>AI Assistant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>
                <a:solidFill>
                  <a:srgbClr val="110B18"/>
                </a:solidFill>
              </a:rPr>
              <a:t>Explains results, summarizes changes, flags exceptions</a:t>
            </a:r>
          </a:p>
        </p:txBody>
      </p:sp>
      <p:sp>
        <p:nvSpPr>
          <p:cNvPr id="215" name="Shape 215"/>
          <p:cNvSpPr/>
          <p:nvPr/>
        </p:nvSpPr>
        <p:spPr>
          <a:xfrm>
            <a:off x="5892800" y="3397250"/>
            <a:ext cx="50800" cy="1219200"/>
          </a:xfrm>
          <a:prstGeom prst="rect">
            <a:avLst/>
          </a:prstGeom>
          <a:solidFill>
            <a:srgbClr val="5568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Shape 217"/>
          <p:cNvSpPr/>
          <p:nvPr/>
        </p:nvSpPr>
        <p:spPr>
          <a:xfrm>
            <a:off x="5892800" y="4686300"/>
            <a:ext cx="2540000" cy="1219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A"/>
            </a:solidFill>
          </a:ln>
        </p:spPr>
        <p:txBody>
          <a:bodyPr wrap="square" lIns="203200" tIns="101600" rIns="152400" bIns="101600" anchor="t">
            <a:norm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0E2841"/>
                </a:solidFill>
              </a:rPr>
              <a:t>Reporting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>
                <a:solidFill>
                  <a:srgbClr val="110B18"/>
                </a:solidFill>
              </a:rPr>
              <a:t>Executive dashboards, actual-vs-forecast monitoring</a:t>
            </a:r>
          </a:p>
        </p:txBody>
      </p:sp>
      <p:sp>
        <p:nvSpPr>
          <p:cNvPr id="218" name="Shape 218"/>
          <p:cNvSpPr/>
          <p:nvPr/>
        </p:nvSpPr>
        <p:spPr>
          <a:xfrm>
            <a:off x="5892800" y="4686300"/>
            <a:ext cx="50800" cy="1219200"/>
          </a:xfrm>
          <a:prstGeom prst="rect">
            <a:avLst/>
          </a:prstGeom>
          <a:solidFill>
            <a:srgbClr val="5568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Shape 220"/>
          <p:cNvSpPr/>
          <p:nvPr/>
        </p:nvSpPr>
        <p:spPr>
          <a:xfrm>
            <a:off x="9042400" y="2108200"/>
            <a:ext cx="2540000" cy="17907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A"/>
            </a:solidFill>
          </a:ln>
        </p:spPr>
        <p:txBody>
          <a:bodyPr wrap="square" lIns="203200" tIns="101600" rIns="152400" bIns="101600" anchor="t">
            <a:norm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0E2841"/>
                </a:solidFill>
              </a:rPr>
              <a:t>Planning Application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>
                <a:solidFill>
                  <a:srgbClr val="110B18"/>
                </a:solidFill>
              </a:rPr>
              <a:t>Adjust and forecasts, adjust assumptions, compare scenarios, and approve</a:t>
            </a:r>
          </a:p>
        </p:txBody>
      </p:sp>
      <p:sp>
        <p:nvSpPr>
          <p:cNvPr id="221" name="Shape 221"/>
          <p:cNvSpPr/>
          <p:nvPr/>
        </p:nvSpPr>
        <p:spPr>
          <a:xfrm>
            <a:off x="9042400" y="2108200"/>
            <a:ext cx="50800" cy="1790700"/>
          </a:xfrm>
          <a:prstGeom prst="rect">
            <a:avLst/>
          </a:prstGeom>
          <a:solidFill>
            <a:srgbClr val="2A3E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Shape 223"/>
          <p:cNvSpPr/>
          <p:nvPr/>
        </p:nvSpPr>
        <p:spPr>
          <a:xfrm>
            <a:off x="9042400" y="4114800"/>
            <a:ext cx="2540000" cy="17907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A"/>
            </a:solidFill>
          </a:ln>
        </p:spPr>
        <p:txBody>
          <a:bodyPr wrap="square" lIns="203200" tIns="101600" rIns="152400" bIns="101600" anchor="t">
            <a:norm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0E2841"/>
                </a:solidFill>
              </a:rPr>
              <a:t>Controlled Writeback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>
                <a:solidFill>
                  <a:srgbClr val="110B18"/>
                </a:solidFill>
              </a:rPr>
              <a:t>Adjustments saved with rationale, user, version, and approval status</a:t>
            </a:r>
          </a:p>
        </p:txBody>
      </p:sp>
      <p:sp>
        <p:nvSpPr>
          <p:cNvPr id="224" name="Shape 224"/>
          <p:cNvSpPr/>
          <p:nvPr/>
        </p:nvSpPr>
        <p:spPr>
          <a:xfrm>
            <a:off x="9042400" y="4114800"/>
            <a:ext cx="50800" cy="1790700"/>
          </a:xfrm>
          <a:prstGeom prst="rect">
            <a:avLst/>
          </a:prstGeom>
          <a:solidFill>
            <a:srgbClr val="2A3E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5" name="Shape 225"/>
          <p:cNvSpPr/>
          <p:nvPr/>
        </p:nvSpPr>
        <p:spPr>
          <a:xfrm>
            <a:off x="2133600" y="2952750"/>
            <a:ext cx="609600" cy="101600"/>
          </a:xfrm>
          <a:prstGeom prst="rightArrow">
            <a:avLst/>
          </a:prstGeom>
          <a:solidFill>
            <a:srgbClr val="2A3E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6" name="Shape 226"/>
          <p:cNvSpPr/>
          <p:nvPr/>
        </p:nvSpPr>
        <p:spPr>
          <a:xfrm>
            <a:off x="3937000" y="3898900"/>
            <a:ext cx="152400" cy="215900"/>
          </a:xfrm>
          <a:prstGeom prst="downArrow">
            <a:avLst/>
          </a:prstGeom>
          <a:solidFill>
            <a:srgbClr val="2A3E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7" name="Shape 227"/>
          <p:cNvSpPr/>
          <p:nvPr/>
        </p:nvSpPr>
        <p:spPr>
          <a:xfrm>
            <a:off x="5283200" y="4959350"/>
            <a:ext cx="304800" cy="101600"/>
          </a:xfrm>
          <a:prstGeom prst="rightArrow">
            <a:avLst/>
          </a:prstGeom>
          <a:solidFill>
            <a:srgbClr val="2A3E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8" name="Shape 228"/>
          <p:cNvSpPr/>
          <p:nvPr/>
        </p:nvSpPr>
        <p:spPr>
          <a:xfrm>
            <a:off x="5575300" y="2717800"/>
            <a:ext cx="25400" cy="2578100"/>
          </a:xfrm>
          <a:prstGeom prst="rect">
            <a:avLst/>
          </a:prstGeom>
          <a:solidFill>
            <a:srgbClr val="2A3E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9" name="Shape 229"/>
          <p:cNvSpPr/>
          <p:nvPr/>
        </p:nvSpPr>
        <p:spPr>
          <a:xfrm>
            <a:off x="5588000" y="2667000"/>
            <a:ext cx="304800" cy="101600"/>
          </a:xfrm>
          <a:prstGeom prst="rightArrow">
            <a:avLst/>
          </a:prstGeom>
          <a:solidFill>
            <a:srgbClr val="2A3E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Shape 230"/>
          <p:cNvSpPr/>
          <p:nvPr/>
        </p:nvSpPr>
        <p:spPr>
          <a:xfrm>
            <a:off x="5588000" y="3956050"/>
            <a:ext cx="304800" cy="101600"/>
          </a:xfrm>
          <a:prstGeom prst="rightArrow">
            <a:avLst/>
          </a:prstGeom>
          <a:solidFill>
            <a:srgbClr val="2A3E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Shape 231"/>
          <p:cNvSpPr/>
          <p:nvPr/>
        </p:nvSpPr>
        <p:spPr>
          <a:xfrm>
            <a:off x="5588000" y="5245100"/>
            <a:ext cx="304800" cy="101600"/>
          </a:xfrm>
          <a:prstGeom prst="rightArrow">
            <a:avLst/>
          </a:prstGeom>
          <a:solidFill>
            <a:srgbClr val="2A3E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Shape 232"/>
          <p:cNvSpPr/>
          <p:nvPr/>
        </p:nvSpPr>
        <p:spPr>
          <a:xfrm>
            <a:off x="8432800" y="2667000"/>
            <a:ext cx="304800" cy="101600"/>
          </a:xfrm>
          <a:prstGeom prst="rightArrow">
            <a:avLst/>
          </a:prstGeom>
          <a:solidFill>
            <a:srgbClr val="2A3E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3" name="Shape 233"/>
          <p:cNvSpPr/>
          <p:nvPr/>
        </p:nvSpPr>
        <p:spPr>
          <a:xfrm>
            <a:off x="8432800" y="3956050"/>
            <a:ext cx="304800" cy="101600"/>
          </a:xfrm>
          <a:prstGeom prst="rightArrow">
            <a:avLst/>
          </a:prstGeom>
          <a:solidFill>
            <a:srgbClr val="2A3E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4" name="Shape 234"/>
          <p:cNvSpPr/>
          <p:nvPr/>
        </p:nvSpPr>
        <p:spPr>
          <a:xfrm>
            <a:off x="8432800" y="5245100"/>
            <a:ext cx="304800" cy="101600"/>
          </a:xfrm>
          <a:prstGeom prst="rightArrow">
            <a:avLst/>
          </a:prstGeom>
          <a:solidFill>
            <a:srgbClr val="2A3E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5" name="Shape 235"/>
          <p:cNvSpPr/>
          <p:nvPr/>
        </p:nvSpPr>
        <p:spPr>
          <a:xfrm>
            <a:off x="8724900" y="2717800"/>
            <a:ext cx="25400" cy="2578100"/>
          </a:xfrm>
          <a:prstGeom prst="rect">
            <a:avLst/>
          </a:prstGeom>
          <a:solidFill>
            <a:srgbClr val="2A3E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6" name="Shape 236"/>
          <p:cNvSpPr/>
          <p:nvPr/>
        </p:nvSpPr>
        <p:spPr>
          <a:xfrm>
            <a:off x="8737600" y="2952750"/>
            <a:ext cx="304800" cy="101600"/>
          </a:xfrm>
          <a:prstGeom prst="rightArrow">
            <a:avLst/>
          </a:prstGeom>
          <a:solidFill>
            <a:srgbClr val="2A3E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7" name="Shape 237"/>
          <p:cNvSpPr/>
          <p:nvPr/>
        </p:nvSpPr>
        <p:spPr>
          <a:xfrm>
            <a:off x="10236200" y="3898900"/>
            <a:ext cx="152400" cy="215900"/>
          </a:xfrm>
          <a:prstGeom prst="downArrow">
            <a:avLst/>
          </a:prstGeom>
          <a:solidFill>
            <a:srgbClr val="2A3EC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8" name="Shape 238"/>
          <p:cNvSpPr/>
          <p:nvPr/>
        </p:nvSpPr>
        <p:spPr>
          <a:xfrm>
            <a:off x="10293350" y="5905500"/>
            <a:ext cx="25400" cy="139700"/>
          </a:xfrm>
          <a:prstGeom prst="rect">
            <a:avLst/>
          </a:prstGeom>
          <a:solidFill>
            <a:srgbClr val="5568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9" name="Shape 239"/>
          <p:cNvSpPr/>
          <p:nvPr/>
        </p:nvSpPr>
        <p:spPr>
          <a:xfrm>
            <a:off x="4013200" y="6019800"/>
            <a:ext cx="6280150" cy="25400"/>
          </a:xfrm>
          <a:prstGeom prst="rect">
            <a:avLst/>
          </a:prstGeom>
          <a:solidFill>
            <a:srgbClr val="5568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0" name="Shape 240"/>
          <p:cNvSpPr/>
          <p:nvPr/>
        </p:nvSpPr>
        <p:spPr>
          <a:xfrm>
            <a:off x="3911600" y="5791200"/>
            <a:ext cx="203200" cy="254000"/>
          </a:xfrm>
          <a:prstGeom prst="upArrow">
            <a:avLst/>
          </a:prstGeom>
          <a:solidFill>
            <a:srgbClr val="5568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1" name="Label 241"/>
          <p:cNvSpPr txBox="1"/>
          <p:nvPr/>
        </p:nvSpPr>
        <p:spPr>
          <a:xfrm>
            <a:off x="4013200" y="6057900"/>
            <a:ext cx="62738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0" spc="120">
                <a:solidFill>
                  <a:srgbClr val="5568D6"/>
                </a:solidFill>
              </a:rPr>
              <a:t>Approved adjustments written back to the governed layer</a:t>
            </a:r>
          </a:p>
        </p:txBody>
      </p:sp>
    </p:spTree>
    <p:extLst>
      <p:ext uri="{BB962C8B-B14F-4D97-AF65-F5344CB8AC3E}">
        <p14:creationId xmlns:p14="http://schemas.microsoft.com/office/powerpoint/2010/main" val="32766807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1C32A44-6441-C6D6-510A-D95FBDAA5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5A05-6D98-9BD8-3FF4-9B020BD6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183"/>
            <a:ext cx="10972800" cy="1100000"/>
          </a:xfrm>
        </p:spPr>
        <p:txBody>
          <a:bodyPr/>
          <a:lstStyle/>
          <a:p>
            <a:r>
              <a:rPr lang="en-US" sz="3200">
                <a:solidFill>
                  <a:schemeClr val="tx2"/>
                </a:solidFill>
              </a:rPr>
              <a:t>Where Your Priorities Sit Today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50314-065B-DA20-20EA-652968325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2026 Cleartelligence LLC. Confidential – For internal or authorized use only.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E46AD-3E8B-1FEA-E89D-8F2BAF27C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EF317-A37A-8347-BE9C-E40E8D6CEC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Card 1">
            <a:extLst>
              <a:ext uri="{FF2B5EF4-FFF2-40B4-BE49-F238E27FC236}">
                <a16:creationId xmlns:a16="http://schemas.microsoft.com/office/drawing/2014/main" id="{8F9926CB-2909-8A00-FE14-1F92934D7B12}"/>
              </a:ext>
            </a:extLst>
          </p:cNvPr>
          <p:cNvSpPr/>
          <p:nvPr/>
        </p:nvSpPr>
        <p:spPr>
          <a:xfrm>
            <a:off x="609600" y="1550000"/>
            <a:ext cx="5250000" cy="1900000"/>
          </a:xfrm>
          <a:prstGeom prst="rect">
            <a:avLst/>
          </a:prstGeom>
          <a:solidFill>
            <a:srgbClr val="F4F6F9"/>
          </a:solidFill>
          <a:ln w="9525">
            <a:solidFill>
              <a:srgbClr val="D5DCE5"/>
            </a:solidFill>
          </a:ln>
        </p:spPr>
        <p:txBody>
          <a:bodyPr wrap="square" lIns="228600" tIns="228600" rIns="228600" bIns="2286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120" normalizeH="0" baseline="0" noProof="0">
                <a:ln>
                  <a:noFill/>
                </a:ln>
                <a:solidFill>
                  <a:srgbClr val="F28014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SUBSCRIPTION FORECASTING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82D4F"/>
                </a:solidFill>
                <a:effectLst/>
                <a:uLnTx/>
                <a:uFillTx/>
                <a:latin typeface="Aptos Display" pitchFamily="34" charset="0"/>
                <a:ea typeface="+mn-ea"/>
                <a:cs typeface="+mn-cs"/>
              </a:rPr>
              <a:t>In testing, thin on renewal data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Today: model running, limited renewal-rate inputs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Tomorrow: connect renewal-rate data through the semantic layer</a:t>
            </a:r>
          </a:p>
        </p:txBody>
      </p:sp>
      <p:sp>
        <p:nvSpPr>
          <p:cNvPr id="20" name="Card 2">
            <a:extLst>
              <a:ext uri="{FF2B5EF4-FFF2-40B4-BE49-F238E27FC236}">
                <a16:creationId xmlns:a16="http://schemas.microsoft.com/office/drawing/2014/main" id="{7F10CDC9-35A1-AAED-4439-2751EAEB2BBF}"/>
              </a:ext>
            </a:extLst>
          </p:cNvPr>
          <p:cNvSpPr/>
          <p:nvPr/>
        </p:nvSpPr>
        <p:spPr>
          <a:xfrm>
            <a:off x="6332400" y="1550000"/>
            <a:ext cx="5250000" cy="1900000"/>
          </a:xfrm>
          <a:prstGeom prst="rect">
            <a:avLst/>
          </a:prstGeom>
          <a:solidFill>
            <a:srgbClr val="F4F6F9"/>
          </a:solidFill>
          <a:ln w="9525">
            <a:solidFill>
              <a:srgbClr val="D5DCE5"/>
            </a:solidFill>
          </a:ln>
        </p:spPr>
        <p:txBody>
          <a:bodyPr wrap="square" lIns="228600" tIns="228600" rIns="228600" bIns="2286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120" normalizeH="0" baseline="0" noProof="0">
                <a:ln>
                  <a:noFill/>
                </a:ln>
                <a:solidFill>
                  <a:srgbClr val="F28014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ENTERPRISE DATA MODEL FOR FORECASTING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82D4F"/>
                </a:solidFill>
                <a:effectLst/>
                <a:uLnTx/>
                <a:uFillTx/>
                <a:latin typeface="Aptos Display" pitchFamily="34" charset="0"/>
                <a:ea typeface="+mn-ea"/>
                <a:cs typeface="+mn-cs"/>
              </a:rPr>
              <a:t>Foundation underway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Today: actuals and contracted revenue complete for FY26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Tomorrow: the forecasting layer is what's left, and it depends on the semantic layer</a:t>
            </a:r>
          </a:p>
        </p:txBody>
      </p:sp>
      <p:sp>
        <p:nvSpPr>
          <p:cNvPr id="30" name="Card 3">
            <a:extLst>
              <a:ext uri="{FF2B5EF4-FFF2-40B4-BE49-F238E27FC236}">
                <a16:creationId xmlns:a16="http://schemas.microsoft.com/office/drawing/2014/main" id="{B99F7FA5-DC68-D72C-828C-28A21B55D208}"/>
              </a:ext>
            </a:extLst>
          </p:cNvPr>
          <p:cNvSpPr/>
          <p:nvPr/>
        </p:nvSpPr>
        <p:spPr>
          <a:xfrm>
            <a:off x="609600" y="3750000"/>
            <a:ext cx="5250000" cy="1900000"/>
          </a:xfrm>
          <a:prstGeom prst="rect">
            <a:avLst/>
          </a:prstGeom>
          <a:solidFill>
            <a:srgbClr val="F4F6F9"/>
          </a:solidFill>
          <a:ln w="9525">
            <a:solidFill>
              <a:srgbClr val="D5DCE5"/>
            </a:solidFill>
          </a:ln>
        </p:spPr>
        <p:txBody>
          <a:bodyPr wrap="square" lIns="228600" tIns="228600" rIns="228600" bIns="2286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120" normalizeH="0" baseline="0" noProof="0">
                <a:ln>
                  <a:noFill/>
                </a:ln>
                <a:solidFill>
                  <a:srgbClr val="F28014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ML FOR FORECASTING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82D4F"/>
                </a:solidFill>
                <a:effectLst/>
                <a:uLnTx/>
                <a:uFillTx/>
                <a:latin typeface="Aptos Display" pitchFamily="34" charset="0"/>
                <a:ea typeface="+mn-ea"/>
                <a:cs typeface="+mn-cs"/>
              </a:rPr>
              <a:t>Comparing Snowflake ML and Lovable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Today: two tools looked at as if they compete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Tomorrow: the right split depends on forecast horizon, granularity, and how your team wants to interact with results</a:t>
            </a:r>
          </a:p>
        </p:txBody>
      </p:sp>
      <p:sp>
        <p:nvSpPr>
          <p:cNvPr id="40" name="Card 4">
            <a:extLst>
              <a:ext uri="{FF2B5EF4-FFF2-40B4-BE49-F238E27FC236}">
                <a16:creationId xmlns:a16="http://schemas.microsoft.com/office/drawing/2014/main" id="{8092DE4E-7E16-CBDA-467B-70BC50DDE965}"/>
              </a:ext>
            </a:extLst>
          </p:cNvPr>
          <p:cNvSpPr/>
          <p:nvPr/>
        </p:nvSpPr>
        <p:spPr>
          <a:xfrm>
            <a:off x="6332400" y="3750000"/>
            <a:ext cx="5250000" cy="1900000"/>
          </a:xfrm>
          <a:prstGeom prst="rect">
            <a:avLst/>
          </a:prstGeom>
          <a:solidFill>
            <a:srgbClr val="F4F6F9"/>
          </a:solidFill>
          <a:ln w="9525">
            <a:solidFill>
              <a:srgbClr val="D5DCE5"/>
            </a:solidFill>
          </a:ln>
        </p:spPr>
        <p:txBody>
          <a:bodyPr wrap="square" lIns="228600" tIns="228600" rIns="228600" bIns="2286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120" normalizeH="0" baseline="0" noProof="0">
                <a:ln>
                  <a:noFill/>
                </a:ln>
                <a:solidFill>
                  <a:srgbClr val="F28014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CASH FORECASTING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82D4F"/>
                </a:solidFill>
                <a:effectLst/>
                <a:uLnTx/>
                <a:uFillTx/>
                <a:latin typeface="Aptos Display" pitchFamily="34" charset="0"/>
                <a:ea typeface="+mn-ea"/>
                <a:cs typeface="+mn-cs"/>
              </a:rPr>
              <a:t>Data-rich, needs financial context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Today: strong Snowflake data, thinner financial/operational framing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Tomorrow: pairs the data work with Steve's treasury expertise</a:t>
            </a:r>
          </a:p>
        </p:txBody>
      </p:sp>
      <p:sp>
        <p:nvSpPr>
          <p:cNvPr id="900" name="Caption">
            <a:extLst>
              <a:ext uri="{FF2B5EF4-FFF2-40B4-BE49-F238E27FC236}">
                <a16:creationId xmlns:a16="http://schemas.microsoft.com/office/drawing/2014/main" id="{45E837BB-29C8-D3D2-B423-BCC0F06AD018}"/>
              </a:ext>
            </a:extLst>
          </p:cNvPr>
          <p:cNvSpPr/>
          <p:nvPr/>
        </p:nvSpPr>
        <p:spPr>
          <a:xfrm>
            <a:off x="609600" y="5900000"/>
            <a:ext cx="10972800" cy="6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156082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Cash application system replacement is a related but separate workstream with Nathan's team, not the focus of today's forecasting discussion.</a:t>
            </a:r>
          </a:p>
        </p:txBody>
      </p:sp>
    </p:spTree>
    <p:extLst>
      <p:ext uri="{BB962C8B-B14F-4D97-AF65-F5344CB8AC3E}">
        <p14:creationId xmlns:p14="http://schemas.microsoft.com/office/powerpoint/2010/main" val="38806018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59942C1-3E32-0310-1C47-21226E0F0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788EC-E8F3-F5CC-8818-5902228E9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9400"/>
            <a:ext cx="10972800" cy="736600"/>
          </a:xfrm>
        </p:spPr>
        <p:txBody>
          <a:bodyPr anchor="ctr"/>
          <a:lstStyle/>
          <a:p>
            <a:r>
              <a:rPr lang="en-US" sz="3600">
                <a:solidFill>
                  <a:srgbClr val="110B18"/>
                </a:solidFill>
                <a:latin typeface="Aptos Light"/>
              </a:rPr>
              <a:t>Value and Benefits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B49BA-3387-2086-5CA2-083A53689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2026 Cleartelligence LLC. Confidential – For internal or authorized use only.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B962EA-DA02-EEF2-9EE9-0AEF284ED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EF317-A37A-8347-BE9C-E40E8D6CEC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01" name="SrcBar0">
            <a:extLst>
              <a:ext uri="{FF2B5EF4-FFF2-40B4-BE49-F238E27FC236}">
                <a16:creationId xmlns:a16="http://schemas.microsoft.com/office/drawing/2014/main" id="{4A2D39BA-47E6-2FB2-163A-898DA07ECDEF}"/>
              </a:ext>
            </a:extLst>
          </p:cNvPr>
          <p:cNvSpPr/>
          <p:nvPr/>
        </p:nvSpPr>
        <p:spPr>
          <a:xfrm>
            <a:off x="609600" y="1320800"/>
            <a:ext cx="50800" cy="558800"/>
          </a:xfrm>
          <a:prstGeom prst="rect">
            <a:avLst/>
          </a:prstGeom>
          <a:solidFill>
            <a:srgbClr val="B7C4F3"/>
          </a:solidFill>
          <a:ln>
            <a:noFill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02" name="SrcLabel0">
            <a:extLst>
              <a:ext uri="{FF2B5EF4-FFF2-40B4-BE49-F238E27FC236}">
                <a16:creationId xmlns:a16="http://schemas.microsoft.com/office/drawing/2014/main" id="{0CBEA32E-AA25-248F-283D-7B59BFCFECB1}"/>
              </a:ext>
            </a:extLst>
          </p:cNvPr>
          <p:cNvSpPr txBox="1"/>
          <p:nvPr/>
        </p:nvSpPr>
        <p:spPr>
          <a:xfrm>
            <a:off x="787400" y="1346200"/>
            <a:ext cx="2844800" cy="5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Higher Education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Course pack-driven; academic calendar cycles</a:t>
            </a:r>
          </a:p>
        </p:txBody>
      </p:sp>
      <p:sp>
        <p:nvSpPr>
          <p:cNvPr id="2003" name="SrcBar1">
            <a:extLst>
              <a:ext uri="{FF2B5EF4-FFF2-40B4-BE49-F238E27FC236}">
                <a16:creationId xmlns:a16="http://schemas.microsoft.com/office/drawing/2014/main" id="{0280C616-49B0-59C0-B79B-CB579A2B08E6}"/>
              </a:ext>
            </a:extLst>
          </p:cNvPr>
          <p:cNvSpPr/>
          <p:nvPr/>
        </p:nvSpPr>
        <p:spPr>
          <a:xfrm>
            <a:off x="609600" y="2082800"/>
            <a:ext cx="50800" cy="558800"/>
          </a:xfrm>
          <a:prstGeom prst="rect">
            <a:avLst/>
          </a:prstGeom>
          <a:solidFill>
            <a:srgbClr val="8FA2EC"/>
          </a:solidFill>
          <a:ln>
            <a:noFill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04" name="SrcLabel1">
            <a:extLst>
              <a:ext uri="{FF2B5EF4-FFF2-40B4-BE49-F238E27FC236}">
                <a16:creationId xmlns:a16="http://schemas.microsoft.com/office/drawing/2014/main" id="{F1E51F30-4CFE-9DB7-3E9E-3262F3FEDC85}"/>
              </a:ext>
            </a:extLst>
          </p:cNvPr>
          <p:cNvSpPr txBox="1"/>
          <p:nvPr/>
        </p:nvSpPr>
        <p:spPr>
          <a:xfrm>
            <a:off x="787400" y="2108200"/>
            <a:ext cx="2844800" cy="5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Corporate Learning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Contract- and cohort-driven; pipeline-weighted</a:t>
            </a:r>
          </a:p>
        </p:txBody>
      </p:sp>
      <p:sp>
        <p:nvSpPr>
          <p:cNvPr id="2005" name="SrcBar2">
            <a:extLst>
              <a:ext uri="{FF2B5EF4-FFF2-40B4-BE49-F238E27FC236}">
                <a16:creationId xmlns:a16="http://schemas.microsoft.com/office/drawing/2014/main" id="{71DFA321-9030-E6E2-4377-992979096F8A}"/>
              </a:ext>
            </a:extLst>
          </p:cNvPr>
          <p:cNvSpPr/>
          <p:nvPr/>
        </p:nvSpPr>
        <p:spPr>
          <a:xfrm>
            <a:off x="609600" y="2844800"/>
            <a:ext cx="50800" cy="558800"/>
          </a:xfrm>
          <a:prstGeom prst="rect">
            <a:avLst/>
          </a:prstGeom>
          <a:solidFill>
            <a:srgbClr val="4B6CE2"/>
          </a:solidFill>
          <a:ln>
            <a:noFill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06" name="SrcLabel2">
            <a:extLst>
              <a:ext uri="{FF2B5EF4-FFF2-40B4-BE49-F238E27FC236}">
                <a16:creationId xmlns:a16="http://schemas.microsoft.com/office/drawing/2014/main" id="{E53C4908-A27B-72F9-1AF1-36602E13AF78}"/>
              </a:ext>
            </a:extLst>
          </p:cNvPr>
          <p:cNvSpPr txBox="1"/>
          <p:nvPr/>
        </p:nvSpPr>
        <p:spPr>
          <a:xfrm>
            <a:off x="787400" y="2870200"/>
            <a:ext cx="2844800" cy="5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Harvard Business Review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Subscription- and renewal-driven; seasonal</a:t>
            </a:r>
          </a:p>
        </p:txBody>
      </p:sp>
      <p:sp>
        <p:nvSpPr>
          <p:cNvPr id="2007" name="Ribbon0">
            <a:extLst>
              <a:ext uri="{FF2B5EF4-FFF2-40B4-BE49-F238E27FC236}">
                <a16:creationId xmlns:a16="http://schemas.microsoft.com/office/drawing/2014/main" id="{5CDD05BD-CB27-C27A-2E28-95BAED590A8D}"/>
              </a:ext>
            </a:extLst>
          </p:cNvPr>
          <p:cNvSpPr/>
          <p:nvPr/>
        </p:nvSpPr>
        <p:spPr>
          <a:xfrm>
            <a:off x="3708400" y="1320800"/>
            <a:ext cx="3606800" cy="2082800"/>
          </a:xfrm>
          <a:custGeom>
            <a:avLst/>
            <a:gdLst/>
            <a:ahLst/>
            <a:cxnLst/>
            <a:rect l="0" t="0" r="r" b="b"/>
            <a:pathLst>
              <a:path w="3000" h="1640">
                <a:moveTo>
                  <a:pt x="0" y="0"/>
                </a:moveTo>
                <a:lnTo>
                  <a:pt x="3000" y="540"/>
                </a:lnTo>
                <a:lnTo>
                  <a:pt x="3000" y="753"/>
                </a:lnTo>
                <a:lnTo>
                  <a:pt x="0" y="440"/>
                </a:lnTo>
                <a:close/>
              </a:path>
            </a:pathLst>
          </a:custGeom>
          <a:gradFill flip="none" rotWithShape="1">
            <a:gsLst>
              <a:gs pos="0">
                <a:srgbClr val="EEF0FD"/>
              </a:gs>
              <a:gs pos="100000">
                <a:srgbClr val="DBE2F9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08" name="Ribbon1">
            <a:extLst>
              <a:ext uri="{FF2B5EF4-FFF2-40B4-BE49-F238E27FC236}">
                <a16:creationId xmlns:a16="http://schemas.microsoft.com/office/drawing/2014/main" id="{E473ED8F-80BF-ECD4-C383-7580EB4DE990}"/>
              </a:ext>
            </a:extLst>
          </p:cNvPr>
          <p:cNvSpPr/>
          <p:nvPr/>
        </p:nvSpPr>
        <p:spPr>
          <a:xfrm>
            <a:off x="3708400" y="1320800"/>
            <a:ext cx="3606800" cy="2082800"/>
          </a:xfrm>
          <a:custGeom>
            <a:avLst/>
            <a:gdLst/>
            <a:ahLst/>
            <a:cxnLst/>
            <a:rect l="0" t="0" r="r" b="b"/>
            <a:pathLst>
              <a:path w="3000" h="1640">
                <a:moveTo>
                  <a:pt x="0" y="600"/>
                </a:moveTo>
                <a:lnTo>
                  <a:pt x="3000" y="753"/>
                </a:lnTo>
                <a:lnTo>
                  <a:pt x="3000" y="967"/>
                </a:lnTo>
                <a:lnTo>
                  <a:pt x="0" y="1040"/>
                </a:lnTo>
                <a:close/>
              </a:path>
            </a:pathLst>
          </a:custGeom>
          <a:gradFill flip="none" rotWithShape="1">
            <a:gsLst>
              <a:gs pos="0">
                <a:srgbClr val="DBE2F9"/>
              </a:gs>
              <a:gs pos="100000">
                <a:srgbClr val="B7C4F3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09" name="Ribbon2">
            <a:extLst>
              <a:ext uri="{FF2B5EF4-FFF2-40B4-BE49-F238E27FC236}">
                <a16:creationId xmlns:a16="http://schemas.microsoft.com/office/drawing/2014/main" id="{26494F7C-74D1-2BC3-20FB-A0D1E3F0B1FC}"/>
              </a:ext>
            </a:extLst>
          </p:cNvPr>
          <p:cNvSpPr/>
          <p:nvPr/>
        </p:nvSpPr>
        <p:spPr>
          <a:xfrm>
            <a:off x="3708400" y="1320800"/>
            <a:ext cx="3606800" cy="2082800"/>
          </a:xfrm>
          <a:custGeom>
            <a:avLst/>
            <a:gdLst/>
            <a:ahLst/>
            <a:cxnLst/>
            <a:rect l="0" t="0" r="r" b="b"/>
            <a:pathLst>
              <a:path w="3000" h="1640">
                <a:moveTo>
                  <a:pt x="0" y="1200"/>
                </a:moveTo>
                <a:lnTo>
                  <a:pt x="3000" y="967"/>
                </a:lnTo>
                <a:lnTo>
                  <a:pt x="3000" y="1180"/>
                </a:lnTo>
                <a:lnTo>
                  <a:pt x="0" y="1640"/>
                </a:lnTo>
                <a:close/>
              </a:path>
            </a:pathLst>
          </a:custGeom>
          <a:gradFill flip="none" rotWithShape="1">
            <a:gsLst>
              <a:gs pos="0">
                <a:srgbClr val="C6D0F6"/>
              </a:gs>
              <a:gs pos="100000">
                <a:srgbClr val="8FA2EC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12" name="Divider">
            <a:extLst>
              <a:ext uri="{FF2B5EF4-FFF2-40B4-BE49-F238E27FC236}">
                <a16:creationId xmlns:a16="http://schemas.microsoft.com/office/drawing/2014/main" id="{31DD6BC0-F6B2-F601-BBCD-F42C98B341E2}"/>
              </a:ext>
            </a:extLst>
          </p:cNvPr>
          <p:cNvSpPr/>
          <p:nvPr/>
        </p:nvSpPr>
        <p:spPr>
          <a:xfrm>
            <a:off x="585395" y="4013200"/>
            <a:ext cx="10972800" cy="12700"/>
          </a:xfrm>
          <a:prstGeom prst="rect">
            <a:avLst/>
          </a:prstGeom>
          <a:solidFill>
            <a:srgbClr val="A9E5BB"/>
          </a:solidFill>
          <a:ln>
            <a:noFill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13" name="Stat0">
            <a:extLst>
              <a:ext uri="{FF2B5EF4-FFF2-40B4-BE49-F238E27FC236}">
                <a16:creationId xmlns:a16="http://schemas.microsoft.com/office/drawing/2014/main" id="{122E0065-5279-B0A5-F973-8862DEDEC94C}"/>
              </a:ext>
            </a:extLst>
          </p:cNvPr>
          <p:cNvSpPr txBox="1"/>
          <p:nvPr/>
        </p:nvSpPr>
        <p:spPr>
          <a:xfrm>
            <a:off x="585395" y="4216400"/>
            <a:ext cx="2489200" cy="154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4B6CE2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Forecast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not one forced model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Course packs, contracts and subscriptions, each on its own drivers</a:t>
            </a:r>
          </a:p>
        </p:txBody>
      </p:sp>
      <p:sp>
        <p:nvSpPr>
          <p:cNvPr id="2014" name="StatRule1">
            <a:extLst>
              <a:ext uri="{FF2B5EF4-FFF2-40B4-BE49-F238E27FC236}">
                <a16:creationId xmlns:a16="http://schemas.microsoft.com/office/drawing/2014/main" id="{33964D6A-572E-D91F-F4DA-307BC915FF81}"/>
              </a:ext>
            </a:extLst>
          </p:cNvPr>
          <p:cNvSpPr/>
          <p:nvPr/>
        </p:nvSpPr>
        <p:spPr>
          <a:xfrm>
            <a:off x="3226995" y="4216400"/>
            <a:ext cx="12700" cy="1422400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15" name="Stat1">
            <a:extLst>
              <a:ext uri="{FF2B5EF4-FFF2-40B4-BE49-F238E27FC236}">
                <a16:creationId xmlns:a16="http://schemas.microsoft.com/office/drawing/2014/main" id="{CAB4D484-3B03-A934-9B06-211FC1FF51B2}"/>
              </a:ext>
            </a:extLst>
          </p:cNvPr>
          <p:cNvSpPr txBox="1"/>
          <p:nvPr/>
        </p:nvSpPr>
        <p:spPr>
          <a:xfrm>
            <a:off x="3328595" y="4216400"/>
            <a:ext cx="2489200" cy="154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4B6CE2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Flex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drivers at either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Run a scenario inside one unit or on the consolidated HBP roll-up</a:t>
            </a:r>
          </a:p>
        </p:txBody>
      </p:sp>
      <p:sp>
        <p:nvSpPr>
          <p:cNvPr id="2016" name="StatRule2">
            <a:extLst>
              <a:ext uri="{FF2B5EF4-FFF2-40B4-BE49-F238E27FC236}">
                <a16:creationId xmlns:a16="http://schemas.microsoft.com/office/drawing/2014/main" id="{D2FC0654-470B-4AD3-70CD-C4484AEA83E2}"/>
              </a:ext>
            </a:extLst>
          </p:cNvPr>
          <p:cNvSpPr/>
          <p:nvPr/>
        </p:nvSpPr>
        <p:spPr>
          <a:xfrm>
            <a:off x="5970195" y="4216400"/>
            <a:ext cx="12700" cy="1422400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17" name="Stat2">
            <a:extLst>
              <a:ext uri="{FF2B5EF4-FFF2-40B4-BE49-F238E27FC236}">
                <a16:creationId xmlns:a16="http://schemas.microsoft.com/office/drawing/2014/main" id="{0020E86A-E060-BFB2-5BAC-4CDFF7610BBA}"/>
              </a:ext>
            </a:extLst>
          </p:cNvPr>
          <p:cNvSpPr txBox="1"/>
          <p:nvPr/>
        </p:nvSpPr>
        <p:spPr>
          <a:xfrm>
            <a:off x="6071795" y="4216400"/>
            <a:ext cx="2489200" cy="154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4B6CE2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Consolidate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on shared definitions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Three methodologies roll up to one number without manual mapping</a:t>
            </a:r>
          </a:p>
        </p:txBody>
      </p:sp>
      <p:sp>
        <p:nvSpPr>
          <p:cNvPr id="2018" name="StatRule3">
            <a:extLst>
              <a:ext uri="{FF2B5EF4-FFF2-40B4-BE49-F238E27FC236}">
                <a16:creationId xmlns:a16="http://schemas.microsoft.com/office/drawing/2014/main" id="{A233C9A6-33F9-6FEC-312A-0F22A5AECFE3}"/>
              </a:ext>
            </a:extLst>
          </p:cNvPr>
          <p:cNvSpPr/>
          <p:nvPr/>
        </p:nvSpPr>
        <p:spPr>
          <a:xfrm>
            <a:off x="8713395" y="4216400"/>
            <a:ext cx="12700" cy="1422400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19" name="Stat3">
            <a:extLst>
              <a:ext uri="{FF2B5EF4-FFF2-40B4-BE49-F238E27FC236}">
                <a16:creationId xmlns:a16="http://schemas.microsoft.com/office/drawing/2014/main" id="{D6F058ED-7FAE-51D2-25FA-D6ED08B23422}"/>
              </a:ext>
            </a:extLst>
          </p:cNvPr>
          <p:cNvSpPr txBox="1"/>
          <p:nvPr/>
        </p:nvSpPr>
        <p:spPr>
          <a:xfrm>
            <a:off x="8814995" y="4216400"/>
            <a:ext cx="2489200" cy="154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4B6CE2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Trust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the number you present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Every adjustment carries rationale, user and approval status.</a:t>
            </a:r>
          </a:p>
        </p:txBody>
      </p:sp>
      <p:sp>
        <p:nvSpPr>
          <p:cNvPr id="2020" name="ValueLine">
            <a:extLst>
              <a:ext uri="{FF2B5EF4-FFF2-40B4-BE49-F238E27FC236}">
                <a16:creationId xmlns:a16="http://schemas.microsoft.com/office/drawing/2014/main" id="{094B5C79-C969-AEC3-EDF6-E0F0A6C6F844}"/>
              </a:ext>
            </a:extLst>
          </p:cNvPr>
          <p:cNvSpPr txBox="1"/>
          <p:nvPr/>
        </p:nvSpPr>
        <p:spPr>
          <a:xfrm>
            <a:off x="609600" y="58674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100" normalizeH="0" baseline="0" noProof="0">
                <a:ln>
                  <a:noFill/>
                </a:ln>
                <a:solidFill>
                  <a:srgbClr val="2A3EC8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THE VALUE  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B4C61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One foundation gives HBP a number it can trust and each business the flexibility it needs, and new revenue drivers are absorbed as drivers, not one-off spreadsheets.</a:t>
            </a:r>
          </a:p>
        </p:txBody>
      </p:sp>
      <p:sp>
        <p:nvSpPr>
          <p:cNvPr id="2010" name="Consolidated">
            <a:extLst>
              <a:ext uri="{FF2B5EF4-FFF2-40B4-BE49-F238E27FC236}">
                <a16:creationId xmlns:a16="http://schemas.microsoft.com/office/drawing/2014/main" id="{6788DB23-28EE-181B-DDF0-9AB32805E44E}"/>
              </a:ext>
            </a:extLst>
          </p:cNvPr>
          <p:cNvSpPr/>
          <p:nvPr/>
        </p:nvSpPr>
        <p:spPr>
          <a:xfrm>
            <a:off x="7442200" y="2006600"/>
            <a:ext cx="4140200" cy="812800"/>
          </a:xfrm>
          <a:prstGeom prst="rect">
            <a:avLst/>
          </a:prstGeom>
          <a:solidFill>
            <a:srgbClr val="4B6CE2"/>
          </a:solidFill>
          <a:ln>
            <a:noFill/>
          </a:ln>
        </p:spPr>
        <p:txBody>
          <a:bodyPr lIns="182880" tIns="0" rIns="18288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HBP Consolidated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7D3E2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Different methodologies, one governed roll-up</a:t>
            </a:r>
          </a:p>
        </p:txBody>
      </p:sp>
    </p:spTree>
    <p:extLst>
      <p:ext uri="{BB962C8B-B14F-4D97-AF65-F5344CB8AC3E}">
        <p14:creationId xmlns:p14="http://schemas.microsoft.com/office/powerpoint/2010/main" val="24414454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EDDBD08-2E33-2129-262F-45B53F3E2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4FE0-1056-AC10-A20F-8152453D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>
                <a:solidFill>
                  <a:srgbClr val="110B18"/>
                </a:solidFill>
                <a:latin typeface="Aptos Light"/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0062D-0A94-639C-3DC6-EFB2FC7D3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8800"/>
            <a:ext cx="10972800" cy="482600"/>
          </a:xfrm>
        </p:spPr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>
                <a:solidFill>
                  <a:srgbClr val="3A4A57"/>
                </a:solidFill>
                <a:latin typeface="Aptos" panose="02110004020202020204"/>
              </a:rPr>
              <a:t>Suggested action items coming out of today’s session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01225-C4AF-1AD4-055A-EFC757D63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2026 Cleartelligence LLC. Confidential – For internal or authorized use only.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29424B-FEA1-2C70-BA15-13C12345F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EF317-A37A-8347-BE9C-E40E8D6CEC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1" name="Card 1">
            <a:extLst>
              <a:ext uri="{FF2B5EF4-FFF2-40B4-BE49-F238E27FC236}">
                <a16:creationId xmlns:a16="http://schemas.microsoft.com/office/drawing/2014/main" id="{7AF69A07-B902-0E1C-6F39-109085A2FE19}"/>
              </a:ext>
            </a:extLst>
          </p:cNvPr>
          <p:cNvSpPr/>
          <p:nvPr/>
        </p:nvSpPr>
        <p:spPr>
          <a:xfrm>
            <a:off x="609600" y="2730500"/>
            <a:ext cx="3454400" cy="1803400"/>
          </a:xfrm>
          <a:prstGeom prst="roundRect">
            <a:avLst>
              <a:gd name="adj" fmla="val 6000"/>
            </a:avLst>
          </a:prstGeom>
          <a:solidFill>
            <a:srgbClr val="F2F4FD"/>
          </a:solidFill>
          <a:ln w="12700">
            <a:solidFill>
              <a:srgbClr val="DCE0F5"/>
            </a:solidFill>
          </a:ln>
        </p:spPr>
        <p:txBody>
          <a:bodyPr lIns="228600" tIns="685800" rIns="228600" bIns="18288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10B1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Confirm priority 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Rank the forecasting and scenario-planning use cases discussed today and agree on the top two to pursue first.</a:t>
            </a:r>
          </a:p>
        </p:txBody>
      </p:sp>
      <p:sp>
        <p:nvSpPr>
          <p:cNvPr id="102" name="Card 2">
            <a:extLst>
              <a:ext uri="{FF2B5EF4-FFF2-40B4-BE49-F238E27FC236}">
                <a16:creationId xmlns:a16="http://schemas.microsoft.com/office/drawing/2014/main" id="{552E98D7-A8E4-A0DB-F6D5-A82001E86B69}"/>
              </a:ext>
            </a:extLst>
          </p:cNvPr>
          <p:cNvSpPr/>
          <p:nvPr/>
        </p:nvSpPr>
        <p:spPr>
          <a:xfrm>
            <a:off x="4368800" y="2730500"/>
            <a:ext cx="3454400" cy="1803400"/>
          </a:xfrm>
          <a:prstGeom prst="roundRect">
            <a:avLst>
              <a:gd name="adj" fmla="val 6000"/>
            </a:avLst>
          </a:prstGeom>
          <a:solidFill>
            <a:srgbClr val="F2F4FD"/>
          </a:solidFill>
          <a:ln w="12700">
            <a:solidFill>
              <a:srgbClr val="DCE0F5"/>
            </a:solidFill>
          </a:ln>
        </p:spPr>
        <p:txBody>
          <a:bodyPr lIns="228600" tIns="685800" rIns="228600" bIns="18288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10B1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Schedule deeper working sessions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Set focused sessions with FP&amp;A on those use cases to map current-state data flows and define target outputs.</a:t>
            </a:r>
          </a:p>
        </p:txBody>
      </p:sp>
      <p:sp>
        <p:nvSpPr>
          <p:cNvPr id="103" name="Card 3">
            <a:extLst>
              <a:ext uri="{FF2B5EF4-FFF2-40B4-BE49-F238E27FC236}">
                <a16:creationId xmlns:a16="http://schemas.microsoft.com/office/drawing/2014/main" id="{D2084D55-8206-F742-65FF-8507F4B242D6}"/>
              </a:ext>
            </a:extLst>
          </p:cNvPr>
          <p:cNvSpPr/>
          <p:nvPr/>
        </p:nvSpPr>
        <p:spPr>
          <a:xfrm>
            <a:off x="8128000" y="2730500"/>
            <a:ext cx="3454400" cy="1803400"/>
          </a:xfrm>
          <a:prstGeom prst="roundRect">
            <a:avLst>
              <a:gd name="adj" fmla="val 6000"/>
            </a:avLst>
          </a:prstGeom>
          <a:solidFill>
            <a:srgbClr val="F2F4FD"/>
          </a:solidFill>
          <a:ln w="12700">
            <a:solidFill>
              <a:srgbClr val="DCE0F5"/>
            </a:solidFill>
          </a:ln>
        </p:spPr>
        <p:txBody>
          <a:bodyPr lIns="228600" tIns="685800" rIns="228600" bIns="18288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10B1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Identify dependencies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Note the data and integration work the first use case would rely on.</a:t>
            </a:r>
          </a:p>
        </p:txBody>
      </p:sp>
      <p:sp>
        <p:nvSpPr>
          <p:cNvPr id="104" name="Timing">
            <a:extLst>
              <a:ext uri="{FF2B5EF4-FFF2-40B4-BE49-F238E27FC236}">
                <a16:creationId xmlns:a16="http://schemas.microsoft.com/office/drawing/2014/main" id="{CEB05B1D-E693-ECD1-C8D1-889DD74FEB5B}"/>
              </a:ext>
            </a:extLst>
          </p:cNvPr>
          <p:cNvSpPr/>
          <p:nvPr/>
        </p:nvSpPr>
        <p:spPr>
          <a:xfrm>
            <a:off x="609600" y="5156200"/>
            <a:ext cx="10972800" cy="584200"/>
          </a:xfrm>
          <a:prstGeom prst="roundRect">
            <a:avLst>
              <a:gd name="adj" fmla="val 20000"/>
            </a:avLst>
          </a:prstGeom>
          <a:solidFill>
            <a:srgbClr val="182E51"/>
          </a:solidFill>
          <a:ln>
            <a:noFill/>
          </a:ln>
        </p:spPr>
        <p:txBody>
          <a:bodyPr lIns="182880" tIns="0" rIns="18288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 discussion:  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7D3E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which of these to prioritize, and what timing works on your side.</a:t>
            </a:r>
          </a:p>
        </p:txBody>
      </p:sp>
      <p:sp>
        <p:nvSpPr>
          <p:cNvPr id="300" name="Badge1">
            <a:extLst>
              <a:ext uri="{FF2B5EF4-FFF2-40B4-BE49-F238E27FC236}">
                <a16:creationId xmlns:a16="http://schemas.microsoft.com/office/drawing/2014/main" id="{BE74BC5B-4823-7812-36F7-09759E2D0F2B}"/>
              </a:ext>
            </a:extLst>
          </p:cNvPr>
          <p:cNvSpPr/>
          <p:nvPr/>
        </p:nvSpPr>
        <p:spPr>
          <a:xfrm>
            <a:off x="838200" y="2959100"/>
            <a:ext cx="365760" cy="365760"/>
          </a:xfrm>
          <a:prstGeom prst="ellipse">
            <a:avLst/>
          </a:prstGeom>
          <a:solidFill>
            <a:srgbClr val="2A3EC8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301" name="Badge2">
            <a:extLst>
              <a:ext uri="{FF2B5EF4-FFF2-40B4-BE49-F238E27FC236}">
                <a16:creationId xmlns:a16="http://schemas.microsoft.com/office/drawing/2014/main" id="{5A648EE0-6714-8D98-B397-D87F8AF5020F}"/>
              </a:ext>
            </a:extLst>
          </p:cNvPr>
          <p:cNvSpPr/>
          <p:nvPr/>
        </p:nvSpPr>
        <p:spPr>
          <a:xfrm>
            <a:off x="4597400" y="2959100"/>
            <a:ext cx="365760" cy="365760"/>
          </a:xfrm>
          <a:prstGeom prst="ellipse">
            <a:avLst/>
          </a:prstGeom>
          <a:solidFill>
            <a:srgbClr val="2A3EC8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302" name="Badge3">
            <a:extLst>
              <a:ext uri="{FF2B5EF4-FFF2-40B4-BE49-F238E27FC236}">
                <a16:creationId xmlns:a16="http://schemas.microsoft.com/office/drawing/2014/main" id="{C61FB12E-B681-B40B-7FA7-3C0CAE66EE1E}"/>
              </a:ext>
            </a:extLst>
          </p:cNvPr>
          <p:cNvSpPr/>
          <p:nvPr/>
        </p:nvSpPr>
        <p:spPr>
          <a:xfrm>
            <a:off x="8356600" y="2959100"/>
            <a:ext cx="365760" cy="365760"/>
          </a:xfrm>
          <a:prstGeom prst="ellipse">
            <a:avLst/>
          </a:prstGeom>
          <a:solidFill>
            <a:srgbClr val="2A3EC8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0551335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Cleartelligence">
      <a:dk1>
        <a:srgbClr val="000000"/>
      </a:dk1>
      <a:lt1>
        <a:srgbClr val="FFFFFF"/>
      </a:lt1>
      <a:dk2>
        <a:srgbClr val="4B6CE2"/>
      </a:dk2>
      <a:lt2>
        <a:srgbClr val="A9E5BB"/>
      </a:lt2>
      <a:accent1>
        <a:srgbClr val="000000"/>
      </a:accent1>
      <a:accent2>
        <a:srgbClr val="FFFFFF"/>
      </a:accent2>
      <a:accent3>
        <a:srgbClr val="4B6CE2"/>
      </a:accent3>
      <a:accent4>
        <a:srgbClr val="A9E5BB"/>
      </a:accent4>
      <a:accent5>
        <a:srgbClr val="BD544C"/>
      </a:accent5>
      <a:accent6>
        <a:srgbClr val="000000"/>
      </a:accent6>
      <a:hlink>
        <a:srgbClr val="4B6CE2"/>
      </a:hlink>
      <a:folHlink>
        <a:srgbClr val="0000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39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7C9F8C6-0820-4108-A7D9-CC4E10EF314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e79a5e3-680b-4b8b-94fd-1a77a081075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5a0a329-83c8-496b-8b1d-233021b3b87f">
      <Terms xmlns="http://schemas.microsoft.com/office/infopath/2007/PartnerControls"/>
    </lcf76f155ced4ddcb4097134ff3c332f>
    <TaxCatchAll xmlns="bc6dc5fe-7d9c-4ed4-b9d9-ece830b481b1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B166FDE089684894E39B606C61E095" ma:contentTypeVersion="16" ma:contentTypeDescription="Create a new document." ma:contentTypeScope="" ma:versionID="c8daf8077d0807a60681b59d603d53d5">
  <xsd:schema xmlns:xsd="http://www.w3.org/2001/XMLSchema" xmlns:xs="http://www.w3.org/2001/XMLSchema" xmlns:p="http://schemas.microsoft.com/office/2006/metadata/properties" xmlns:ns2="65a0a329-83c8-496b-8b1d-233021b3b87f" xmlns:ns3="bc6dc5fe-7d9c-4ed4-b9d9-ece830b481b1" targetNamespace="http://schemas.microsoft.com/office/2006/metadata/properties" ma:root="true" ma:fieldsID="5c2e81bba4379b76fd0a5f3163f60bc4" ns2:_="" ns3:_="">
    <xsd:import namespace="65a0a329-83c8-496b-8b1d-233021b3b87f"/>
    <xsd:import namespace="bc6dc5fe-7d9c-4ed4-b9d9-ece830b481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0a329-83c8-496b-8b1d-233021b3b8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32ce076-3877-465a-9720-2d0d50912d3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6dc5fe-7d9c-4ed4-b9d9-ece830b481b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b11c267-dccb-4b0c-817c-fa8afcc0e7d2}" ma:internalName="TaxCatchAll" ma:showField="CatchAllData" ma:web="bc6dc5fe-7d9c-4ed4-b9d9-ece830b481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77A1B7-9009-4799-A1CC-5375B09C6D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BFA986-4ABA-4D1F-B65F-106C01271246}">
  <ds:schemaRefs>
    <ds:schemaRef ds:uri="http://purl.org/dc/dcmitype/"/>
    <ds:schemaRef ds:uri="65a0a329-83c8-496b-8b1d-233021b3b87f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bc6dc5fe-7d9c-4ed4-b9d9-ece830b481b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BA22440-C351-4AB3-9DAF-D853EDE2A3AD}">
  <ds:schemaRefs>
    <ds:schemaRef ds:uri="65a0a329-83c8-496b-8b1d-233021b3b87f"/>
    <ds:schemaRef ds:uri="bc6dc5fe-7d9c-4ed4-b9d9-ece830b481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Cleartelligence - 2025</Template>
  <TotalTime>0</TotalTime>
  <Words>6873</Words>
  <Application>Microsoft Macintosh PowerPoint</Application>
  <PresentationFormat>Widescreen</PresentationFormat>
  <Paragraphs>1021</Paragraphs>
  <Slides>47</Slides>
  <Notes>33</Notes>
  <HiddenSlides>26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Calibri</vt:lpstr>
      <vt:lpstr>Aptos</vt:lpstr>
      <vt:lpstr>Courier New</vt:lpstr>
      <vt:lpstr>Aptos Light</vt:lpstr>
      <vt:lpstr>Arial</vt:lpstr>
      <vt:lpstr>Aptos SemiBold</vt:lpstr>
      <vt:lpstr>Aptos Display</vt:lpstr>
      <vt:lpstr>1_Office Theme</vt:lpstr>
      <vt:lpstr>2_Office Theme</vt:lpstr>
      <vt:lpstr>Office Theme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Finance Domain</vt:lpstr>
      <vt:lpstr>PowerPoint Presentation</vt:lpstr>
      <vt:lpstr>We rebuilt controller finance reporting, then kept building on it. </vt:lpstr>
      <vt:lpstr>PowerPoint Presentation</vt:lpstr>
      <vt:lpstr>Goals and Current State</vt:lpstr>
      <vt:lpstr>Goals &amp; Current State Discussion</vt:lpstr>
      <vt:lpstr>Foundational Data Work Is What Makes the Tools Work</vt:lpstr>
      <vt:lpstr>PowerPoint Presentation</vt:lpstr>
      <vt:lpstr>Trend #3: Data as a Product</vt:lpstr>
      <vt:lpstr>Finance Domain Background</vt:lpstr>
      <vt:lpstr>Where Cortex and Lovable Each Fit, By Business Line</vt:lpstr>
      <vt:lpstr>Proven Value in the Finance Domain</vt:lpstr>
      <vt:lpstr>From Today to Tomorrow</vt:lpstr>
      <vt:lpstr>PowerPoint Presentation</vt:lpstr>
      <vt:lpstr>From Today to Tomorrow</vt:lpstr>
      <vt:lpstr>FP&amp;A End-to-End Integration</vt:lpstr>
      <vt:lpstr>FP&amp;A End-to-End Integration with Tools</vt:lpstr>
      <vt:lpstr>FP&amp;A E2E Subscribers Example (Future State)</vt:lpstr>
      <vt:lpstr>FP&amp;A E2E Subscribers Example (Current State)</vt:lpstr>
      <vt:lpstr>How Scenario Planning &amp; Forecasting Typically Work</vt:lpstr>
      <vt:lpstr>Where Your Priorities Sit Today</vt:lpstr>
      <vt:lpstr>Value and Benefits</vt:lpstr>
      <vt:lpstr>Value and Benefits</vt:lpstr>
      <vt:lpstr>Next Steps</vt:lpstr>
      <vt:lpstr>From Barabara: Context</vt:lpstr>
      <vt:lpstr>Narrative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Elizabeth Blackwell</dc:creator>
  <cp:keywords/>
  <dc:description/>
  <cp:lastModifiedBy>Jason Lotz</cp:lastModifiedBy>
  <cp:revision>2</cp:revision>
  <dcterms:created xsi:type="dcterms:W3CDTF">2026-08-03T14:53:07Z</dcterms:created>
  <dcterms:modified xsi:type="dcterms:W3CDTF">2026-08-11T19:07:27Z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0x010100A5B166FDE089684894E39B606C61E095</vt:lpwstr>
  </property>
  <property fmtid="{D5CDD505-2E9C-101B-9397-08002B2CF9AE}" pid="3" name="Order">
    <vt:lpwstr>60900.0000000000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lpwstr/>
  </property>
  <property fmtid="{D5CDD505-2E9C-101B-9397-08002B2CF9AE}" pid="10" name="MediaServiceImageTags">
    <vt:lpwstr/>
  </property>
</Properties>
</file>